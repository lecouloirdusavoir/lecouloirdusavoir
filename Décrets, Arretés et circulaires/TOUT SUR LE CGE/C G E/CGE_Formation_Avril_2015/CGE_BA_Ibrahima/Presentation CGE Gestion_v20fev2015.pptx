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744" r:id="rId1"/>
  </p:sldMasterIdLst>
  <p:sldIdLst>
    <p:sldId id="256" r:id="rId2"/>
    <p:sldId id="257" r:id="rId3"/>
    <p:sldId id="258" r:id="rId4"/>
    <p:sldId id="259" r:id="rId5"/>
    <p:sldId id="263" r:id="rId6"/>
    <p:sldId id="264" r:id="rId7"/>
    <p:sldId id="265" r:id="rId8"/>
    <p:sldId id="266" r:id="rId9"/>
    <p:sldId id="267" r:id="rId10"/>
    <p:sldId id="268" r:id="rId11"/>
    <p:sldId id="269" r:id="rId12"/>
    <p:sldId id="270" r:id="rId13"/>
    <p:sldId id="271" r:id="rId14"/>
    <p:sldId id="260" r:id="rId15"/>
    <p:sldId id="272" r:id="rId16"/>
    <p:sldId id="273" r:id="rId17"/>
    <p:sldId id="274" r:id="rId18"/>
    <p:sldId id="275" r:id="rId19"/>
    <p:sldId id="276" r:id="rId20"/>
    <p:sldId id="277" r:id="rId21"/>
    <p:sldId id="278" r:id="rId22"/>
    <p:sldId id="279" r:id="rId23"/>
    <p:sldId id="261" r:id="rId24"/>
    <p:sldId id="285" r:id="rId25"/>
    <p:sldId id="284" r:id="rId26"/>
    <p:sldId id="283" r:id="rId27"/>
    <p:sldId id="286" r:id="rId28"/>
    <p:sldId id="282" r:id="rId29"/>
    <p:sldId id="281" r:id="rId30"/>
    <p:sldId id="289" r:id="rId31"/>
    <p:sldId id="288" r:id="rId32"/>
    <p:sldId id="287" r:id="rId33"/>
    <p:sldId id="290" r:id="rId34"/>
    <p:sldId id="280" r:id="rId35"/>
    <p:sldId id="292" r:id="rId36"/>
    <p:sldId id="291" r:id="rId37"/>
    <p:sldId id="293" r:id="rId38"/>
    <p:sldId id="295" r:id="rId3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90" d="100"/>
          <a:sy n="90" d="100"/>
        </p:scale>
        <p:origin x="-312" y="-1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Connecteur droit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r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fr-FR" smtClean="0"/>
              <a:t>Cliquez pour modifier le style du titre</a:t>
            </a:r>
            <a:endParaRPr kumimoji="0" lang="en-US"/>
          </a:p>
        </p:txBody>
      </p:sp>
      <p:sp>
        <p:nvSpPr>
          <p:cNvPr id="25" name="Sous-titr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Cliquez pour modifier le style des sous-titres du masque</a:t>
            </a:r>
            <a:endParaRPr kumimoji="0" lang="en-US"/>
          </a:p>
        </p:txBody>
      </p:sp>
      <p:sp>
        <p:nvSpPr>
          <p:cNvPr id="31" name="Espace réservé de la date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1901F058-C7BD-4F24-AC5D-0A4F6D8148D0}" type="datetimeFigureOut">
              <a:rPr lang="fr-FR" smtClean="0"/>
              <a:pPr/>
              <a:t>16/04/2015</a:t>
            </a:fld>
            <a:endParaRPr lang="fr-FR"/>
          </a:p>
        </p:txBody>
      </p:sp>
      <p:sp>
        <p:nvSpPr>
          <p:cNvPr id="18" name="Espace réservé du pied de page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fr-FR"/>
          </a:p>
        </p:txBody>
      </p:sp>
      <p:sp>
        <p:nvSpPr>
          <p:cNvPr id="29" name="Espace réservé du numéro de diapositive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319CE7C6-217C-4296-A46B-2DA898CF5821}"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1901F058-C7BD-4F24-AC5D-0A4F6D8148D0}" type="datetimeFigureOut">
              <a:rPr lang="fr-FR" smtClean="0"/>
              <a:pPr/>
              <a:t>16/04/2015</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1">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1901F058-C7BD-4F24-AC5D-0A4F6D8148D0}" type="datetimeFigureOut">
              <a:rPr lang="fr-FR" smtClean="0"/>
              <a:pPr/>
              <a:t>16/04/2015</a:t>
            </a:fld>
            <a:endParaRPr lang="fr-FR"/>
          </a:p>
        </p:txBody>
      </p:sp>
      <p:sp>
        <p:nvSpPr>
          <p:cNvPr id="5" name="Espace réservé du pied de page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fr-FR"/>
          </a:p>
        </p:txBody>
      </p:sp>
      <p:sp>
        <p:nvSpPr>
          <p:cNvPr id="6" name="Espace réservé du numéro de diapositive 5"/>
          <p:cNvSpPr>
            <a:spLocks noGrp="1"/>
          </p:cNvSpPr>
          <p:nvPr>
            <p:ph type="sldNum" sz="quarter" idx="12"/>
          </p:nvPr>
        </p:nvSpPr>
        <p:spPr>
          <a:xfrm>
            <a:off x="8978603" y="6555112"/>
            <a:ext cx="784448" cy="228600"/>
          </a:xfrm>
        </p:spPr>
        <p:txBody>
          <a:bodyPr/>
          <a:lstStyle>
            <a:extLst/>
          </a:lstStyle>
          <a:p>
            <a:fld id="{319CE7C6-217C-4296-A46B-2DA898CF5821}"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609600" y="320040"/>
            <a:ext cx="9656064" cy="1143000"/>
          </a:xfrm>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1901F058-C7BD-4F24-AC5D-0A4F6D8148D0}" type="datetimeFigureOut">
              <a:rPr lang="fr-FR" smtClean="0"/>
              <a:pPr/>
              <a:t>16/04/2015</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320040"/>
            <a:ext cx="9656064" cy="1143000"/>
          </a:xfrm>
        </p:spPr>
        <p:txBody>
          <a:bodyPr anchor="b"/>
          <a:lstStyle>
            <a:lvl1pPr>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1901F058-C7BD-4F24-AC5D-0A4F6D8148D0}" type="datetimeFigureOut">
              <a:rPr lang="fr-FR" smtClean="0"/>
              <a:pPr/>
              <a:t>16/04/2015</a:t>
            </a:fld>
            <a:endParaRPr lang="fr-FR"/>
          </a:p>
        </p:txBody>
      </p:sp>
      <p:sp>
        <p:nvSpPr>
          <p:cNvPr id="8" name="Espace réservé du pied de page 7"/>
          <p:cNvSpPr>
            <a:spLocks noGrp="1"/>
          </p:cNvSpPr>
          <p:nvPr>
            <p:ph type="ftr" sz="quarter" idx="11"/>
          </p:nvPr>
        </p:nvSpPr>
        <p:spPr/>
        <p:txBody>
          <a:bodyPr/>
          <a:lstStyle>
            <a:extLst/>
          </a:lstStyle>
          <a:p>
            <a:endParaRPr lang="fr-FR"/>
          </a:p>
        </p:txBody>
      </p:sp>
      <p:sp>
        <p:nvSpPr>
          <p:cNvPr id="9" name="Espace réservé du numéro de diapositive 8"/>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09600" y="320040"/>
            <a:ext cx="9656064" cy="1143000"/>
          </a:xfrm>
        </p:spPr>
        <p:txBody>
          <a:bodyPr/>
          <a:lstStyle>
            <a:extLst/>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extLst/>
          </a:lstStyle>
          <a:p>
            <a:fld id="{1901F058-C7BD-4F24-AC5D-0A4F6D8148D0}" type="datetimeFigureOut">
              <a:rPr lang="fr-FR" smtClean="0"/>
              <a:pPr/>
              <a:t>16/04/2015</a:t>
            </a:fld>
            <a:endParaRPr lang="fr-FR"/>
          </a:p>
        </p:txBody>
      </p:sp>
      <p:sp>
        <p:nvSpPr>
          <p:cNvPr id="4" name="Espace réservé du pied de page 3"/>
          <p:cNvSpPr>
            <a:spLocks noGrp="1"/>
          </p:cNvSpPr>
          <p:nvPr>
            <p:ph type="ftr" sz="quarter" idx="11"/>
          </p:nvPr>
        </p:nvSpPr>
        <p:spPr/>
        <p:txBody>
          <a:bodyPr/>
          <a:lstStyle>
            <a:extLst/>
          </a:lstStyle>
          <a:p>
            <a:endParaRPr lang="fr-FR"/>
          </a:p>
        </p:txBody>
      </p:sp>
      <p:sp>
        <p:nvSpPr>
          <p:cNvPr id="5" name="Espace réservé du numéro de diapositive 4"/>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solidFill>
                  <a:schemeClr val="tx2"/>
                </a:solidFill>
              </a:defRPr>
            </a:lvl1pPr>
            <a:extLst/>
          </a:lstStyle>
          <a:p>
            <a:fld id="{1901F058-C7BD-4F24-AC5D-0A4F6D8148D0}" type="datetimeFigureOut">
              <a:rPr lang="fr-FR" smtClean="0"/>
              <a:pPr/>
              <a:t>16/04/2015</a:t>
            </a:fld>
            <a:endParaRPr lang="fr-FR"/>
          </a:p>
        </p:txBody>
      </p:sp>
      <p:sp>
        <p:nvSpPr>
          <p:cNvPr id="3" name="Espace réservé du pied de page 2"/>
          <p:cNvSpPr>
            <a:spLocks noGrp="1"/>
          </p:cNvSpPr>
          <p:nvPr>
            <p:ph type="ftr" sz="quarter" idx="11"/>
          </p:nvPr>
        </p:nvSpPr>
        <p:spPr/>
        <p:txBody>
          <a:bodyPr/>
          <a:lstStyle>
            <a:lvl1pPr>
              <a:defRPr>
                <a:solidFill>
                  <a:schemeClr val="tx2"/>
                </a:solidFill>
              </a:defRPr>
            </a:lvl1pPr>
            <a:extLst/>
          </a:lstStyle>
          <a:p>
            <a:endParaRPr lang="fr-FR"/>
          </a:p>
        </p:txBody>
      </p:sp>
      <p:sp>
        <p:nvSpPr>
          <p:cNvPr id="4" name="Espace réservé du numéro de diapositive 3"/>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1901F058-C7BD-4F24-AC5D-0A4F6D8148D0}" type="datetimeFigureOut">
              <a:rPr lang="fr-FR" smtClean="0"/>
              <a:pPr/>
              <a:t>16/04/2015</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r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fr-FR" smtClean="0"/>
              <a:t>Cliquez pour modifier le style du titre</a:t>
            </a:r>
            <a:endParaRPr kumimoji="0" lang="en-US" dirty="0"/>
          </a:p>
        </p:txBody>
      </p:sp>
      <p:sp>
        <p:nvSpPr>
          <p:cNvPr id="4" name="Espace réservé du texte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extLst/>
          </a:lstStyle>
          <a:p>
            <a:fld id="{1901F058-C7BD-4F24-AC5D-0A4F6D8148D0}" type="datetimeFigureOut">
              <a:rPr lang="fr-FR" smtClean="0"/>
              <a:pPr/>
              <a:t>16/04/2015</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319CE7C6-217C-4296-A46B-2DA898CF5821}" type="slidenum">
              <a:rPr lang="fr-FR" smtClean="0"/>
              <a:pPr/>
              <a:t>‹N°›</a:t>
            </a:fld>
            <a:endParaRPr lang="fr-FR"/>
          </a:p>
        </p:txBody>
      </p:sp>
      <p:sp>
        <p:nvSpPr>
          <p:cNvPr id="10" name="Espace réservé pour une image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fr-FR" smtClean="0"/>
              <a:t>Cliquez sur l'icône pour ajouter une image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1901F058-C7BD-4F24-AC5D-0A4F6D8148D0}" type="datetimeFigureOut">
              <a:rPr lang="fr-FR" smtClean="0"/>
              <a:pPr/>
              <a:t>16/04/2015</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7600" y="274956"/>
            <a:ext cx="2032000" cy="5851525"/>
          </a:xfrm>
        </p:spPr>
        <p:txBody>
          <a:bodyPr vert="eaVert" anchor="t"/>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609600" y="274643"/>
            <a:ext cx="8026400" cy="5851525"/>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a:xfrm>
            <a:off x="5657088" y="6557946"/>
            <a:ext cx="2669952" cy="226902"/>
          </a:xfrm>
        </p:spPr>
        <p:txBody>
          <a:bodyPr/>
          <a:lstStyle>
            <a:extLst/>
          </a:lstStyle>
          <a:p>
            <a:fld id="{1901F058-C7BD-4F24-AC5D-0A4F6D8148D0}" type="datetimeFigureOut">
              <a:rPr lang="fr-FR" smtClean="0"/>
              <a:pPr/>
              <a:t>16/04/2015</a:t>
            </a:fld>
            <a:endParaRPr lang="fr-FR"/>
          </a:p>
        </p:txBody>
      </p:sp>
      <p:sp>
        <p:nvSpPr>
          <p:cNvPr id="5" name="Espace réservé du pied de page 4"/>
          <p:cNvSpPr>
            <a:spLocks noGrp="1"/>
          </p:cNvSpPr>
          <p:nvPr>
            <p:ph type="ftr" sz="quarter" idx="11"/>
          </p:nvPr>
        </p:nvSpPr>
        <p:spPr>
          <a:xfrm>
            <a:off x="609600" y="6556248"/>
            <a:ext cx="4876800" cy="228600"/>
          </a:xfrm>
        </p:spPr>
        <p:txBody>
          <a:bodyPr/>
          <a:lstStyle>
            <a:extLst/>
          </a:lstStyle>
          <a:p>
            <a:endParaRPr lang="fr-FR"/>
          </a:p>
        </p:txBody>
      </p:sp>
      <p:sp>
        <p:nvSpPr>
          <p:cNvPr id="6" name="Espace réservé du numéro de diapositive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319CE7C6-217C-4296-A46B-2DA898CF5821}"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Espace réservé du titre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extLst/>
          </a:lstStyle>
          <a:p>
            <a:r>
              <a:rPr kumimoji="0" lang="fr-FR" smtClean="0"/>
              <a:t>Cliquez pour modifier le style du titre</a:t>
            </a:r>
            <a:endParaRPr kumimoji="0" lang="en-US"/>
          </a:p>
        </p:txBody>
      </p:sp>
      <p:sp>
        <p:nvSpPr>
          <p:cNvPr id="31" name="Espace réservé du texte 30"/>
          <p:cNvSpPr>
            <a:spLocks noGrp="1"/>
          </p:cNvSpPr>
          <p:nvPr>
            <p:ph type="body" idx="1"/>
          </p:nvPr>
        </p:nvSpPr>
        <p:spPr>
          <a:xfrm>
            <a:off x="609600" y="1609416"/>
            <a:ext cx="9652000" cy="4846320"/>
          </a:xfrm>
          <a:prstGeom prst="rect">
            <a:avLst/>
          </a:prstGeom>
        </p:spPr>
        <p:txBody>
          <a:bodyPr vert="horz">
            <a:normAutofit/>
          </a:bodyPr>
          <a:lstStyle>
            <a:extLst/>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27" name="Espace réservé de la date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1901F058-C7BD-4F24-AC5D-0A4F6D8148D0}" type="datetimeFigureOut">
              <a:rPr lang="fr-FR" smtClean="0"/>
              <a:pPr/>
              <a:t>16/04/2015</a:t>
            </a:fld>
            <a:endParaRPr lang="fr-FR"/>
          </a:p>
        </p:txBody>
      </p:sp>
      <p:sp>
        <p:nvSpPr>
          <p:cNvPr id="4" name="Espace réservé du pied de page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fr-FR"/>
          </a:p>
        </p:txBody>
      </p:sp>
      <p:sp>
        <p:nvSpPr>
          <p:cNvPr id="16" name="Espace réservé du numéro de diapositive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319CE7C6-217C-4296-A46B-2DA898CF5821}"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089418" y="0"/>
            <a:ext cx="8102582" cy="4863084"/>
          </a:xfrm>
        </p:spPr>
        <p:txBody>
          <a:bodyPr>
            <a:noAutofit/>
          </a:bodyPr>
          <a:lstStyle/>
          <a:p>
            <a:r>
              <a:rPr lang="fr-FR" sz="5400" dirty="0" smtClean="0"/>
              <a:t>GESTION </a:t>
            </a:r>
            <a:r>
              <a:rPr lang="fr-FR" sz="5400" dirty="0"/>
              <a:t>MATERIELLE ET FINANCIERE</a:t>
            </a:r>
            <a:br>
              <a:rPr lang="fr-FR" sz="5400" dirty="0"/>
            </a:br>
            <a:r>
              <a:rPr lang="fr-FR" sz="5400" dirty="0"/>
              <a:t>DES FONDS ALLOUES AUX ECOLES </a:t>
            </a:r>
            <a:r>
              <a:rPr lang="fr-FR" sz="5400" dirty="0" smtClean="0"/>
              <a:t>ELEMENTAIRES</a:t>
            </a:r>
            <a:endParaRPr lang="fr-FR" sz="5400" dirty="0"/>
          </a:p>
        </p:txBody>
      </p:sp>
      <p:sp>
        <p:nvSpPr>
          <p:cNvPr id="3" name="Sous-titre 2"/>
          <p:cNvSpPr>
            <a:spLocks noGrp="1"/>
          </p:cNvSpPr>
          <p:nvPr>
            <p:ph type="subTitle" idx="1"/>
          </p:nvPr>
        </p:nvSpPr>
        <p:spPr>
          <a:xfrm>
            <a:off x="5068936" y="5342160"/>
            <a:ext cx="6819704" cy="1101248"/>
          </a:xfrm>
        </p:spPr>
        <p:txBody>
          <a:bodyPr>
            <a:normAutofit/>
          </a:bodyPr>
          <a:lstStyle/>
          <a:p>
            <a:r>
              <a:rPr lang="fr-FR" dirty="0" smtClean="0"/>
              <a:t>DAGE/DCI</a:t>
            </a:r>
          </a:p>
          <a:p>
            <a:r>
              <a:rPr lang="fr-FR" dirty="0" smtClean="0"/>
              <a:t>Le </a:t>
            </a:r>
            <a:r>
              <a:rPr lang="fr-CA" dirty="0" smtClean="0"/>
              <a:t>26</a:t>
            </a:r>
            <a:r>
              <a:rPr lang="fr-FR" dirty="0" smtClean="0"/>
              <a:t> Février 2015</a:t>
            </a:r>
          </a:p>
        </p:txBody>
      </p:sp>
    </p:spTree>
    <p:extLst>
      <p:ext uri="{BB962C8B-B14F-4D97-AF65-F5344CB8AC3E}">
        <p14:creationId xmlns:p14="http://schemas.microsoft.com/office/powerpoint/2010/main" val="42492068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774" y="108005"/>
            <a:ext cx="9652000" cy="1143000"/>
          </a:xfrm>
        </p:spPr>
        <p:txBody>
          <a:bodyPr>
            <a:normAutofit/>
          </a:bodyPr>
          <a:lstStyle/>
          <a:p>
            <a:r>
              <a:rPr lang="fr-FR" sz="6000" u="sng" dirty="0" smtClean="0"/>
              <a:t>OBJECTIFS </a:t>
            </a:r>
            <a:r>
              <a:rPr lang="fr-FR" sz="6000" u="sng" dirty="0"/>
              <a:t>DU MODULE</a:t>
            </a:r>
            <a:endParaRPr lang="fr-FR" sz="6000" dirty="0"/>
          </a:p>
        </p:txBody>
      </p:sp>
      <p:sp>
        <p:nvSpPr>
          <p:cNvPr id="3" name="Espace réservé du contenu 2"/>
          <p:cNvSpPr>
            <a:spLocks noGrp="1"/>
          </p:cNvSpPr>
          <p:nvPr>
            <p:ph idx="1"/>
          </p:nvPr>
        </p:nvSpPr>
        <p:spPr>
          <a:xfrm>
            <a:off x="212034" y="1410632"/>
            <a:ext cx="11383617" cy="5281715"/>
          </a:xfrm>
        </p:spPr>
        <p:txBody>
          <a:bodyPr>
            <a:noAutofit/>
          </a:bodyPr>
          <a:lstStyle/>
          <a:p>
            <a:pPr lvl="0"/>
            <a:r>
              <a:rPr lang="fr-FR" sz="3600" dirty="0" smtClean="0"/>
              <a:t>Harmoniser </a:t>
            </a:r>
            <a:r>
              <a:rPr lang="fr-FR" sz="3600" dirty="0"/>
              <a:t>les pratiques ;</a:t>
            </a:r>
          </a:p>
          <a:p>
            <a:pPr lvl="0"/>
            <a:r>
              <a:rPr lang="fr-FR" sz="3600" dirty="0" smtClean="0"/>
              <a:t>Déconcentrer </a:t>
            </a:r>
            <a:r>
              <a:rPr lang="fr-FR" sz="3600" dirty="0"/>
              <a:t>la gestion du système éducatif ;</a:t>
            </a:r>
          </a:p>
          <a:p>
            <a:pPr lvl="0"/>
            <a:r>
              <a:rPr lang="fr-FR" sz="3600" dirty="0"/>
              <a:t>I</a:t>
            </a:r>
            <a:r>
              <a:rPr lang="fr-FR" sz="3600" dirty="0" smtClean="0"/>
              <a:t>mpulser </a:t>
            </a:r>
            <a:r>
              <a:rPr lang="fr-FR" sz="3600" dirty="0"/>
              <a:t>une meilleure participation des collectivités locales et des communautés dans la gestion de l’école ;</a:t>
            </a:r>
          </a:p>
          <a:p>
            <a:pPr lvl="0"/>
            <a:r>
              <a:rPr lang="fr-FR" sz="3600" dirty="0" smtClean="0"/>
              <a:t>Promouvoir </a:t>
            </a:r>
            <a:r>
              <a:rPr lang="fr-FR" sz="3600" dirty="0"/>
              <a:t>la bonne gouvernance et la culture de reddition des comptes dans la gestion des moyens alloués aux écoles ;</a:t>
            </a:r>
          </a:p>
          <a:p>
            <a:pPr lvl="0"/>
            <a:r>
              <a:rPr lang="fr-FR" sz="3600" dirty="0" smtClean="0"/>
              <a:t>Accroître </a:t>
            </a:r>
            <a:r>
              <a:rPr lang="fr-FR" sz="3600" dirty="0"/>
              <a:t>l’efficacité des interventions.</a:t>
            </a:r>
          </a:p>
          <a:p>
            <a:pPr marL="0" indent="0">
              <a:buNone/>
            </a:pPr>
            <a:endParaRPr lang="fr-FR" sz="3600" dirty="0"/>
          </a:p>
          <a:p>
            <a:endParaRPr lang="fr-FR" sz="3600" dirty="0"/>
          </a:p>
        </p:txBody>
      </p:sp>
    </p:spTree>
    <p:extLst>
      <p:ext uri="{BB962C8B-B14F-4D97-AF65-F5344CB8AC3E}">
        <p14:creationId xmlns:p14="http://schemas.microsoft.com/office/powerpoint/2010/main" val="25235363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774" y="134509"/>
            <a:ext cx="9652000" cy="1143000"/>
          </a:xfrm>
        </p:spPr>
        <p:txBody>
          <a:bodyPr>
            <a:normAutofit/>
          </a:bodyPr>
          <a:lstStyle/>
          <a:p>
            <a:r>
              <a:rPr lang="fr-FR" sz="6000" u="sng" dirty="0"/>
              <a:t>CONTENU DU MODULE</a:t>
            </a:r>
            <a:endParaRPr lang="fr-FR" sz="6000" dirty="0"/>
          </a:p>
        </p:txBody>
      </p:sp>
      <p:sp>
        <p:nvSpPr>
          <p:cNvPr id="3" name="Espace réservé du contenu 2"/>
          <p:cNvSpPr>
            <a:spLocks noGrp="1"/>
          </p:cNvSpPr>
          <p:nvPr>
            <p:ph idx="1"/>
          </p:nvPr>
        </p:nvSpPr>
        <p:spPr>
          <a:xfrm>
            <a:off x="238538" y="1463642"/>
            <a:ext cx="11529391" cy="5394358"/>
          </a:xfrm>
        </p:spPr>
        <p:txBody>
          <a:bodyPr>
            <a:noAutofit/>
          </a:bodyPr>
          <a:lstStyle/>
          <a:p>
            <a:pPr marL="0" indent="0">
              <a:buNone/>
            </a:pPr>
            <a:r>
              <a:rPr lang="fr-FR" sz="5400" dirty="0">
                <a:latin typeface="Times New Roman" panose="02020603050405020304" pitchFamily="18" charset="0"/>
                <a:cs typeface="Times New Roman" panose="02020603050405020304" pitchFamily="18" charset="0"/>
              </a:rPr>
              <a:t>Le module est constitué de quatre (04) parties </a:t>
            </a:r>
            <a:r>
              <a:rPr lang="fr-FR" sz="5400" dirty="0" smtClean="0">
                <a:latin typeface="Times New Roman" panose="02020603050405020304" pitchFamily="18" charset="0"/>
                <a:cs typeface="Times New Roman" panose="02020603050405020304" pitchFamily="18" charset="0"/>
              </a:rPr>
              <a:t>:</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Passation </a:t>
            </a:r>
            <a:r>
              <a:rPr lang="fr-FR" sz="5400" dirty="0">
                <a:latin typeface="Times New Roman" panose="02020603050405020304" pitchFamily="18" charset="0"/>
                <a:cs typeface="Times New Roman" panose="02020603050405020304" pitchFamily="18" charset="0"/>
              </a:rPr>
              <a:t>des </a:t>
            </a:r>
            <a:r>
              <a:rPr lang="fr-FR" sz="5400" dirty="0" smtClean="0">
                <a:latin typeface="Times New Roman" panose="02020603050405020304" pitchFamily="18" charset="0"/>
                <a:cs typeface="Times New Roman" panose="02020603050405020304" pitchFamily="18" charset="0"/>
              </a:rPr>
              <a:t>marchés</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Gestion </a:t>
            </a:r>
            <a:r>
              <a:rPr lang="fr-FR" sz="5400" dirty="0">
                <a:latin typeface="Times New Roman" panose="02020603050405020304" pitchFamily="18" charset="0"/>
                <a:cs typeface="Times New Roman" panose="02020603050405020304" pitchFamily="18" charset="0"/>
              </a:rPr>
              <a:t>des fonds / Banque / </a:t>
            </a:r>
            <a:r>
              <a:rPr lang="fr-FR" sz="5400" dirty="0" smtClean="0">
                <a:latin typeface="Times New Roman" panose="02020603050405020304" pitchFamily="18" charset="0"/>
                <a:cs typeface="Times New Roman" panose="02020603050405020304" pitchFamily="18" charset="0"/>
              </a:rPr>
              <a:t>Caisse</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Le </a:t>
            </a:r>
            <a:r>
              <a:rPr lang="fr-FR" sz="5400" dirty="0">
                <a:latin typeface="Times New Roman" panose="02020603050405020304" pitchFamily="18" charset="0"/>
                <a:cs typeface="Times New Roman" panose="02020603050405020304" pitchFamily="18" charset="0"/>
              </a:rPr>
              <a:t>contrôle (interne et </a:t>
            </a:r>
            <a:r>
              <a:rPr lang="fr-FR" sz="5400" dirty="0" smtClean="0">
                <a:latin typeface="Times New Roman" panose="02020603050405020304" pitchFamily="18" charset="0"/>
                <a:cs typeface="Times New Roman" panose="02020603050405020304" pitchFamily="18" charset="0"/>
              </a:rPr>
              <a:t>externe)</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Le </a:t>
            </a:r>
            <a:r>
              <a:rPr lang="fr-FR" sz="5400" dirty="0">
                <a:latin typeface="Times New Roman" panose="02020603050405020304" pitchFamily="18" charset="0"/>
                <a:cs typeface="Times New Roman" panose="02020603050405020304" pitchFamily="18" charset="0"/>
              </a:rPr>
              <a:t>rapportage</a:t>
            </a:r>
          </a:p>
          <a:p>
            <a:pPr marL="0" indent="0">
              <a:buNone/>
            </a:pPr>
            <a:endParaRPr lang="fr-FR" sz="4000" dirty="0"/>
          </a:p>
        </p:txBody>
      </p:sp>
    </p:spTree>
    <p:extLst>
      <p:ext uri="{BB962C8B-B14F-4D97-AF65-F5344CB8AC3E}">
        <p14:creationId xmlns:p14="http://schemas.microsoft.com/office/powerpoint/2010/main" val="22378050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2522" y="94753"/>
            <a:ext cx="9652000" cy="1143000"/>
          </a:xfrm>
        </p:spPr>
        <p:txBody>
          <a:bodyPr>
            <a:noAutofit/>
          </a:bodyPr>
          <a:lstStyle/>
          <a:p>
            <a:r>
              <a:rPr lang="fr-FR" sz="6000" dirty="0"/>
              <a:t>PASSATION DES MARCHES</a:t>
            </a:r>
          </a:p>
        </p:txBody>
      </p:sp>
      <p:sp>
        <p:nvSpPr>
          <p:cNvPr id="3" name="Espace réservé du contenu 2"/>
          <p:cNvSpPr>
            <a:spLocks noGrp="1"/>
          </p:cNvSpPr>
          <p:nvPr>
            <p:ph idx="1"/>
          </p:nvPr>
        </p:nvSpPr>
        <p:spPr>
          <a:xfrm>
            <a:off x="384313" y="1397381"/>
            <a:ext cx="9652000" cy="4846320"/>
          </a:xfrm>
        </p:spPr>
        <p:txBody>
          <a:bodyPr>
            <a:noAutofit/>
          </a:bodyPr>
          <a:lstStyle/>
          <a:p>
            <a:r>
              <a:rPr lang="fr-FR" sz="6000" dirty="0" smtClean="0"/>
              <a:t>ACQUISITION</a:t>
            </a:r>
          </a:p>
          <a:p>
            <a:pPr marL="514350" lvl="0" indent="-514350">
              <a:buFont typeface="+mj-lt"/>
              <a:buAutoNum type="arabicPeriod"/>
            </a:pPr>
            <a:r>
              <a:rPr lang="fr-FR" sz="6000" dirty="0">
                <a:latin typeface="Arial Narrow" panose="020B0606020202030204" pitchFamily="34" charset="0"/>
              </a:rPr>
              <a:t>l’expression des </a:t>
            </a:r>
            <a:r>
              <a:rPr lang="fr-FR" sz="6000" dirty="0" smtClean="0">
                <a:latin typeface="Arial Narrow" panose="020B0606020202030204" pitchFamily="34" charset="0"/>
              </a:rPr>
              <a:t>besoins</a:t>
            </a:r>
          </a:p>
          <a:p>
            <a:pPr marL="514350" lvl="0" indent="-514350">
              <a:buFont typeface="+mj-lt"/>
              <a:buAutoNum type="arabicPeriod"/>
            </a:pPr>
            <a:r>
              <a:rPr lang="fr-FR" sz="6000" dirty="0" smtClean="0">
                <a:latin typeface="Arial Narrow" panose="020B0606020202030204" pitchFamily="34" charset="0"/>
              </a:rPr>
              <a:t>Lancement </a:t>
            </a:r>
            <a:r>
              <a:rPr lang="fr-FR" sz="6000" dirty="0">
                <a:latin typeface="Arial Narrow" panose="020B0606020202030204" pitchFamily="34" charset="0"/>
              </a:rPr>
              <a:t>de la commande</a:t>
            </a:r>
          </a:p>
          <a:p>
            <a:pPr marL="514350" indent="-514350">
              <a:buFont typeface="+mj-lt"/>
              <a:buAutoNum type="arabicPeriod"/>
            </a:pPr>
            <a:endParaRPr lang="fr-FR" sz="6000" dirty="0" smtClean="0"/>
          </a:p>
          <a:p>
            <a:r>
              <a:rPr lang="fr-FR" sz="6000" dirty="0" smtClean="0"/>
              <a:t>GESTION DES STOCKS</a:t>
            </a:r>
            <a:endParaRPr lang="fr-FR" sz="6000" dirty="0"/>
          </a:p>
        </p:txBody>
      </p:sp>
    </p:spTree>
    <p:extLst>
      <p:ext uri="{BB962C8B-B14F-4D97-AF65-F5344CB8AC3E}">
        <p14:creationId xmlns:p14="http://schemas.microsoft.com/office/powerpoint/2010/main" val="1152478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2034" y="0"/>
            <a:ext cx="9652000" cy="914400"/>
          </a:xfrm>
        </p:spPr>
        <p:txBody>
          <a:bodyPr>
            <a:no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0" y="846814"/>
            <a:ext cx="10906539" cy="6011186"/>
          </a:xfrm>
        </p:spPr>
        <p:txBody>
          <a:bodyPr>
            <a:noAutofit/>
          </a:bodyPr>
          <a:lstStyle/>
          <a:p>
            <a:pPr marL="0" indent="0">
              <a:buNone/>
            </a:pPr>
            <a:r>
              <a:rPr lang="fr-FR" sz="2500" dirty="0" smtClean="0"/>
              <a:t>ACQUISITION : en deux étapes</a:t>
            </a:r>
          </a:p>
          <a:p>
            <a:pPr marL="514350" indent="-514350">
              <a:buFont typeface="+mj-lt"/>
              <a:buAutoNum type="arabicPeriod"/>
            </a:pPr>
            <a:r>
              <a:rPr lang="fr-FR" sz="2500" b="1" u="sng" dirty="0" smtClean="0"/>
              <a:t>Expression des besoins </a:t>
            </a:r>
            <a:r>
              <a:rPr lang="fr-FR" sz="2500" dirty="0" smtClean="0"/>
              <a:t>: elle intervient lorsque </a:t>
            </a:r>
            <a:r>
              <a:rPr lang="fr-FR" sz="2500" dirty="0"/>
              <a:t>le stock minimum est atteint (fourniture de bureau, matières premières et matières consommables</a:t>
            </a:r>
            <a:r>
              <a:rPr lang="fr-FR" sz="2500" dirty="0" smtClean="0"/>
              <a:t>).</a:t>
            </a:r>
          </a:p>
          <a:p>
            <a:pPr marL="0" indent="0">
              <a:buNone/>
            </a:pPr>
            <a:r>
              <a:rPr lang="fr-FR" sz="2500" dirty="0" smtClean="0"/>
              <a:t>Elle fait appel aux acteurs suivants:</a:t>
            </a:r>
          </a:p>
          <a:p>
            <a:pPr lvl="0"/>
            <a:r>
              <a:rPr lang="fr-FR" sz="2500" b="1" dirty="0" smtClean="0"/>
              <a:t> membre du CGE </a:t>
            </a:r>
            <a:r>
              <a:rPr lang="fr-FR" sz="2500" dirty="0" smtClean="0"/>
              <a:t>: Etablit </a:t>
            </a:r>
            <a:r>
              <a:rPr lang="fr-FR" sz="2500" dirty="0"/>
              <a:t>une Demande d’Achat (DA) en trois exemplaires </a:t>
            </a:r>
            <a:r>
              <a:rPr lang="fr-FR" sz="2500" dirty="0" smtClean="0"/>
              <a:t>; Signe </a:t>
            </a:r>
            <a:r>
              <a:rPr lang="fr-FR" sz="2500" dirty="0"/>
              <a:t>la Demande d’Achat (DA) </a:t>
            </a:r>
            <a:r>
              <a:rPr lang="fr-FR" sz="2500" dirty="0" smtClean="0"/>
              <a:t>; Classe </a:t>
            </a:r>
            <a:r>
              <a:rPr lang="fr-FR" sz="2500" dirty="0"/>
              <a:t>un (01) exemplaire de la Demande d’Achat (DA) </a:t>
            </a:r>
            <a:r>
              <a:rPr lang="fr-FR" sz="2500" dirty="0" smtClean="0"/>
              <a:t>; Transmet </a:t>
            </a:r>
            <a:r>
              <a:rPr lang="fr-FR" sz="2500" dirty="0"/>
              <a:t>la Demande d’Achat (DA) au supérieur </a:t>
            </a:r>
            <a:r>
              <a:rPr lang="fr-FR" sz="2500" dirty="0" smtClean="0"/>
              <a:t>hiérarchique.</a:t>
            </a:r>
          </a:p>
          <a:p>
            <a:pPr lvl="0"/>
            <a:r>
              <a:rPr lang="fr-FR" sz="2500" b="1" dirty="0" smtClean="0"/>
              <a:t>le </a:t>
            </a:r>
            <a:r>
              <a:rPr lang="fr-FR" sz="2500" b="1" dirty="0"/>
              <a:t>supérieur hiérarchique </a:t>
            </a:r>
            <a:r>
              <a:rPr lang="fr-FR" sz="2500" dirty="0"/>
              <a:t>avec comme support la demande d’achat</a:t>
            </a:r>
            <a:r>
              <a:rPr lang="fr-FR" sz="2500" dirty="0" smtClean="0"/>
              <a:t>.</a:t>
            </a:r>
            <a:r>
              <a:rPr lang="fr-FR" sz="2500" dirty="0"/>
              <a:t> Examine le bien fondé de la DA par rapport au budget </a:t>
            </a:r>
            <a:r>
              <a:rPr lang="fr-FR" sz="2500" dirty="0" smtClean="0"/>
              <a:t>; S’assure </a:t>
            </a:r>
            <a:r>
              <a:rPr lang="fr-FR" sz="2500" dirty="0"/>
              <a:t>qu’il n’y a pas de commande en cours concernant l’objet de la DA </a:t>
            </a:r>
            <a:r>
              <a:rPr lang="fr-FR" sz="2500" dirty="0" smtClean="0"/>
              <a:t>; Vise </a:t>
            </a:r>
            <a:r>
              <a:rPr lang="fr-FR" sz="2500" dirty="0"/>
              <a:t>les exemplaires de la DA en l’absence de la commande en cours </a:t>
            </a:r>
            <a:r>
              <a:rPr lang="fr-FR" sz="2500" dirty="0" smtClean="0"/>
              <a:t>; Retourne </a:t>
            </a:r>
            <a:r>
              <a:rPr lang="fr-FR" sz="2500" dirty="0"/>
              <a:t>un exemplaire de la DA validée à l’agent ou secrétariat pour classement </a:t>
            </a:r>
            <a:r>
              <a:rPr lang="fr-FR" sz="2500" dirty="0" smtClean="0"/>
              <a:t>; Transmet </a:t>
            </a:r>
            <a:r>
              <a:rPr lang="fr-FR" sz="2500" dirty="0"/>
              <a:t>la DA dûment visée au BE</a:t>
            </a:r>
          </a:p>
          <a:p>
            <a:pPr marL="0" indent="0">
              <a:buNone/>
            </a:pPr>
            <a:endParaRPr lang="fr-FR" sz="2500" dirty="0"/>
          </a:p>
        </p:txBody>
      </p:sp>
    </p:spTree>
    <p:extLst>
      <p:ext uri="{BB962C8B-B14F-4D97-AF65-F5344CB8AC3E}">
        <p14:creationId xmlns:p14="http://schemas.microsoft.com/office/powerpoint/2010/main" val="1434231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51792" y="94753"/>
            <a:ext cx="9652000" cy="1143000"/>
          </a:xfrm>
        </p:spPr>
        <p:txBody>
          <a:bodyPr>
            <a:norm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06018" y="1225101"/>
            <a:ext cx="10694504" cy="5520255"/>
          </a:xfrm>
        </p:spPr>
        <p:txBody>
          <a:bodyPr>
            <a:noAutofit/>
          </a:bodyPr>
          <a:lstStyle/>
          <a:p>
            <a:pPr marL="0" indent="0">
              <a:buNone/>
            </a:pPr>
            <a:r>
              <a:rPr lang="fr-FR" sz="3600" b="1" u="sng" dirty="0" smtClean="0"/>
              <a:t>ACQUISITION</a:t>
            </a:r>
            <a:r>
              <a:rPr lang="fr-FR" sz="3600" dirty="0" smtClean="0"/>
              <a:t> : en deux étapes(suite)</a:t>
            </a:r>
          </a:p>
          <a:p>
            <a:pPr lvl="0"/>
            <a:r>
              <a:rPr lang="fr-FR" sz="3600" b="1" dirty="0"/>
              <a:t>Le </a:t>
            </a:r>
            <a:r>
              <a:rPr lang="fr-FR" sz="3600" b="1" dirty="0" smtClean="0"/>
              <a:t>BE(Bureau Exécutif): </a:t>
            </a:r>
            <a:r>
              <a:rPr lang="fr-FR" sz="3600" dirty="0" smtClean="0"/>
              <a:t>s’assure </a:t>
            </a:r>
            <a:r>
              <a:rPr lang="fr-FR" sz="3600" dirty="0"/>
              <a:t>du visa du supérieur </a:t>
            </a:r>
            <a:r>
              <a:rPr lang="fr-FR" sz="3600" dirty="0" smtClean="0"/>
              <a:t>;Vérifie </a:t>
            </a:r>
            <a:r>
              <a:rPr lang="fr-FR" sz="3600" dirty="0"/>
              <a:t>la conformité par rapport au </a:t>
            </a:r>
            <a:r>
              <a:rPr lang="fr-FR" sz="3600" dirty="0" smtClean="0"/>
              <a:t>budget; Signe </a:t>
            </a:r>
            <a:r>
              <a:rPr lang="fr-FR" sz="3600" dirty="0"/>
              <a:t>la DA en cas d’accord </a:t>
            </a:r>
            <a:r>
              <a:rPr lang="fr-FR" sz="3600" dirty="0" smtClean="0"/>
              <a:t>;Sollicite </a:t>
            </a:r>
            <a:r>
              <a:rPr lang="fr-FR" sz="3600" dirty="0"/>
              <a:t>des compléments d’information ou rejette la </a:t>
            </a:r>
            <a:r>
              <a:rPr lang="fr-FR" sz="3600" dirty="0" smtClean="0"/>
              <a:t>DA; Transmet </a:t>
            </a:r>
            <a:r>
              <a:rPr lang="fr-FR" sz="3600" dirty="0"/>
              <a:t>la DA en cas d’accord au </a:t>
            </a:r>
            <a:r>
              <a:rPr lang="fr-FR" sz="3600" dirty="0" smtClean="0"/>
              <a:t>Trésorier </a:t>
            </a:r>
            <a:r>
              <a:rPr lang="fr-FR" sz="3600" dirty="0"/>
              <a:t>pour le lancement de la commande</a:t>
            </a:r>
            <a:r>
              <a:rPr lang="fr-FR" sz="3600" dirty="0" smtClean="0"/>
              <a:t>.</a:t>
            </a:r>
          </a:p>
          <a:p>
            <a:pPr marL="0" lvl="0" indent="0">
              <a:buNone/>
            </a:pPr>
            <a:r>
              <a:rPr lang="fr-FR" sz="3600" dirty="0" smtClean="0"/>
              <a:t>Les supports principaux pour l’expression des besoins sont la demande d’achat(DA) et le Budget.</a:t>
            </a:r>
            <a:endParaRPr lang="fr-FR" sz="3600" dirty="0"/>
          </a:p>
        </p:txBody>
      </p:sp>
    </p:spTree>
    <p:extLst>
      <p:ext uri="{BB962C8B-B14F-4D97-AF65-F5344CB8AC3E}">
        <p14:creationId xmlns:p14="http://schemas.microsoft.com/office/powerpoint/2010/main" val="37727380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2035" y="0"/>
            <a:ext cx="9652000" cy="1143000"/>
          </a:xfrm>
        </p:spPr>
        <p:txBody>
          <a:bodyPr>
            <a:no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85529" y="1005840"/>
            <a:ext cx="10734261" cy="5699760"/>
          </a:xfrm>
        </p:spPr>
        <p:txBody>
          <a:bodyPr>
            <a:noAutofit/>
          </a:bodyPr>
          <a:lstStyle/>
          <a:p>
            <a:pPr marL="0" indent="0">
              <a:buNone/>
            </a:pPr>
            <a:r>
              <a:rPr lang="fr-FR" dirty="0" smtClean="0"/>
              <a:t>Lancement de la commande:  Après </a:t>
            </a:r>
            <a:r>
              <a:rPr lang="fr-FR" dirty="0"/>
              <a:t>le choix de la méthode </a:t>
            </a:r>
            <a:r>
              <a:rPr lang="fr-FR" dirty="0" smtClean="0"/>
              <a:t>appropriée, </a:t>
            </a:r>
            <a:r>
              <a:rPr lang="fr-FR" dirty="0"/>
              <a:t>l’établissement procède au lancement de la </a:t>
            </a:r>
            <a:r>
              <a:rPr lang="fr-FR" dirty="0" smtClean="0"/>
              <a:t>commande.</a:t>
            </a:r>
          </a:p>
          <a:p>
            <a:pPr lvl="0"/>
            <a:r>
              <a:rPr lang="fr-FR" dirty="0" smtClean="0"/>
              <a:t>Pour cela</a:t>
            </a:r>
          </a:p>
          <a:p>
            <a:pPr marL="514350" lvl="0" indent="-514350">
              <a:buFont typeface="+mj-lt"/>
              <a:buAutoNum type="arabicPeriod"/>
            </a:pPr>
            <a:r>
              <a:rPr lang="fr-FR" dirty="0" smtClean="0"/>
              <a:t> le Trésorier saisit </a:t>
            </a:r>
            <a:r>
              <a:rPr lang="fr-FR" dirty="0"/>
              <a:t>la demande d’Achat (DA) </a:t>
            </a:r>
            <a:r>
              <a:rPr lang="fr-FR" dirty="0" smtClean="0"/>
              <a:t>; Etablit </a:t>
            </a:r>
            <a:r>
              <a:rPr lang="fr-FR" dirty="0"/>
              <a:t>le Bon de Commande (BC) en quatre (04) exemplaires </a:t>
            </a:r>
            <a:r>
              <a:rPr lang="fr-FR" dirty="0" smtClean="0"/>
              <a:t>; Transmet </a:t>
            </a:r>
            <a:r>
              <a:rPr lang="fr-FR" dirty="0"/>
              <a:t>la liasse (DA, facture </a:t>
            </a:r>
            <a:r>
              <a:rPr lang="fr-FR" dirty="0" smtClean="0"/>
              <a:t>          pro-forma </a:t>
            </a:r>
            <a:r>
              <a:rPr lang="fr-FR" dirty="0"/>
              <a:t>et BC) au BE</a:t>
            </a:r>
            <a:r>
              <a:rPr lang="fr-FR" dirty="0" smtClean="0"/>
              <a:t>.</a:t>
            </a:r>
          </a:p>
          <a:p>
            <a:pPr marL="514350" lvl="0" indent="-514350">
              <a:buFont typeface="+mj-lt"/>
              <a:buAutoNum type="arabicPeriod"/>
            </a:pPr>
            <a:r>
              <a:rPr lang="fr-FR" dirty="0"/>
              <a:t>Le </a:t>
            </a:r>
            <a:r>
              <a:rPr lang="fr-FR" dirty="0" smtClean="0"/>
              <a:t>BE vérifie </a:t>
            </a:r>
            <a:r>
              <a:rPr lang="fr-FR" dirty="0"/>
              <a:t>le niveau d’exécution du budget </a:t>
            </a:r>
            <a:r>
              <a:rPr lang="fr-FR" dirty="0" smtClean="0"/>
              <a:t>; Rapproche </a:t>
            </a:r>
            <a:r>
              <a:rPr lang="fr-FR" dirty="0"/>
              <a:t>DA / Facture </a:t>
            </a:r>
            <a:r>
              <a:rPr lang="fr-FR" dirty="0" smtClean="0"/>
              <a:t>pro-forma </a:t>
            </a:r>
            <a:r>
              <a:rPr lang="fr-FR" dirty="0"/>
              <a:t>/ BC </a:t>
            </a:r>
            <a:r>
              <a:rPr lang="fr-FR" dirty="0" smtClean="0"/>
              <a:t>; Signe </a:t>
            </a:r>
            <a:r>
              <a:rPr lang="fr-FR" dirty="0"/>
              <a:t>le BC matérialisation de la vérification de la position budgétaire) </a:t>
            </a:r>
            <a:r>
              <a:rPr lang="fr-FR" dirty="0" smtClean="0"/>
              <a:t>; Transmet </a:t>
            </a:r>
            <a:r>
              <a:rPr lang="fr-FR" dirty="0"/>
              <a:t>la liasse (DA, facture </a:t>
            </a:r>
            <a:r>
              <a:rPr lang="fr-FR" dirty="0" err="1"/>
              <a:t>proforma</a:t>
            </a:r>
            <a:r>
              <a:rPr lang="fr-FR" dirty="0"/>
              <a:t> et BC) au Trésorier pour envoi au fournisseur retenu.</a:t>
            </a:r>
          </a:p>
          <a:p>
            <a:r>
              <a:rPr lang="fr-FR" b="1" i="1" dirty="0"/>
              <a:t>NB : Le DE ou le </a:t>
            </a:r>
            <a:r>
              <a:rPr lang="fr-FR" b="1" i="1" dirty="0" err="1"/>
              <a:t>CdT</a:t>
            </a:r>
            <a:r>
              <a:rPr lang="fr-FR" b="1" i="1" dirty="0"/>
              <a:t> signe le Bon de Commande (BC) en l’absence du CE</a:t>
            </a:r>
            <a:endParaRPr lang="fr-FR" dirty="0" smtClean="0"/>
          </a:p>
          <a:p>
            <a:pPr marL="0" indent="0">
              <a:buNone/>
            </a:pPr>
            <a:endParaRPr lang="fr-FR" dirty="0"/>
          </a:p>
        </p:txBody>
      </p:sp>
    </p:spTree>
    <p:extLst>
      <p:ext uri="{BB962C8B-B14F-4D97-AF65-F5344CB8AC3E}">
        <p14:creationId xmlns:p14="http://schemas.microsoft.com/office/powerpoint/2010/main" val="42534722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783" y="108005"/>
            <a:ext cx="9652000" cy="872656"/>
          </a:xfrm>
        </p:spPr>
        <p:txBody>
          <a:bodyPr>
            <a:normAutofit fontScale="90000"/>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49086" y="1004363"/>
            <a:ext cx="10942983" cy="5502454"/>
          </a:xfrm>
        </p:spPr>
        <p:txBody>
          <a:bodyPr>
            <a:noAutofit/>
          </a:bodyPr>
          <a:lstStyle/>
          <a:p>
            <a:pPr marL="0" indent="0">
              <a:buNone/>
            </a:pPr>
            <a:r>
              <a:rPr lang="fr-FR" sz="3000" dirty="0" smtClean="0"/>
              <a:t>Lancement de la commande(suite):</a:t>
            </a:r>
          </a:p>
          <a:p>
            <a:pPr>
              <a:buNone/>
            </a:pPr>
            <a:r>
              <a:rPr lang="fr-FR" sz="3000" dirty="0" smtClean="0"/>
              <a:t>3. </a:t>
            </a:r>
            <a:r>
              <a:rPr lang="fr-FR" sz="3000" dirty="0"/>
              <a:t>Le </a:t>
            </a:r>
            <a:r>
              <a:rPr lang="fr-FR" sz="3000" dirty="0" smtClean="0"/>
              <a:t>Trésorier, d</a:t>
            </a:r>
            <a:r>
              <a:rPr lang="fr-FR" sz="3000" dirty="0" smtClean="0">
                <a:effectLst/>
              </a:rPr>
              <a:t>ès réception : v</a:t>
            </a:r>
            <a:r>
              <a:rPr lang="fr-FR" sz="3000" dirty="0" smtClean="0"/>
              <a:t>entile </a:t>
            </a:r>
            <a:r>
              <a:rPr lang="fr-FR" sz="3000" dirty="0"/>
              <a:t>la liasse comme suit :</a:t>
            </a:r>
          </a:p>
          <a:p>
            <a:pPr>
              <a:buFont typeface="Wingdings" panose="05000000000000000000" pitchFamily="2" charset="2"/>
              <a:buChar char="ü"/>
            </a:pPr>
            <a:r>
              <a:rPr lang="fr-FR" sz="3000" dirty="0"/>
              <a:t>Liasse (DA, facture </a:t>
            </a:r>
            <a:r>
              <a:rPr lang="fr-FR" sz="3000" dirty="0" smtClean="0"/>
              <a:t>pro-forma ) et </a:t>
            </a:r>
            <a:r>
              <a:rPr lang="fr-FR" sz="3000" dirty="0"/>
              <a:t>deux </a:t>
            </a:r>
            <a:r>
              <a:rPr lang="fr-FR" sz="3000" dirty="0" smtClean="0"/>
              <a:t>(2</a:t>
            </a:r>
            <a:r>
              <a:rPr lang="fr-FR" sz="3000" dirty="0"/>
              <a:t>) exemplaires du Bon de Commande (BC) pour la mise à jour du suivi budgétaire </a:t>
            </a:r>
            <a:r>
              <a:rPr lang="fr-FR" sz="3000" dirty="0" smtClean="0"/>
              <a:t>;</a:t>
            </a:r>
          </a:p>
          <a:p>
            <a:pPr>
              <a:buFont typeface="Wingdings" panose="05000000000000000000" pitchFamily="2" charset="2"/>
              <a:buChar char="ü"/>
            </a:pPr>
            <a:r>
              <a:rPr lang="fr-FR" sz="3000" dirty="0" smtClean="0"/>
              <a:t>Deux </a:t>
            </a:r>
            <a:r>
              <a:rPr lang="fr-FR" sz="3000" dirty="0"/>
              <a:t>(02 exemplaires du BC au Secrétariat du BE pour envoi au </a:t>
            </a:r>
            <a:r>
              <a:rPr lang="fr-FR" sz="3000" dirty="0" smtClean="0"/>
              <a:t>fournisseur.</a:t>
            </a:r>
          </a:p>
          <a:p>
            <a:pPr>
              <a:buFont typeface="Wingdings" panose="05000000000000000000" pitchFamily="2" charset="2"/>
              <a:buChar char="ü"/>
            </a:pPr>
            <a:r>
              <a:rPr lang="fr-FR" sz="3000" dirty="0" smtClean="0"/>
              <a:t>Saisit </a:t>
            </a:r>
            <a:r>
              <a:rPr lang="fr-FR" sz="3000" dirty="0"/>
              <a:t>le BC </a:t>
            </a:r>
            <a:r>
              <a:rPr lang="fr-FR" sz="3000" dirty="0" smtClean="0"/>
              <a:t>;</a:t>
            </a:r>
          </a:p>
          <a:p>
            <a:pPr>
              <a:buFont typeface="Wingdings" panose="05000000000000000000" pitchFamily="2" charset="2"/>
              <a:buChar char="ü"/>
            </a:pPr>
            <a:r>
              <a:rPr lang="fr-FR" sz="3000" dirty="0" smtClean="0"/>
              <a:t>Appose </a:t>
            </a:r>
            <a:r>
              <a:rPr lang="fr-FR" sz="3000" dirty="0"/>
              <a:t>sur BC le cachet « SAISIE » </a:t>
            </a:r>
            <a:r>
              <a:rPr lang="fr-FR" sz="3000" dirty="0" smtClean="0"/>
              <a:t>; </a:t>
            </a:r>
          </a:p>
          <a:p>
            <a:pPr>
              <a:buFont typeface="Wingdings" panose="05000000000000000000" pitchFamily="2" charset="2"/>
              <a:buChar char="ü"/>
            </a:pPr>
            <a:r>
              <a:rPr lang="fr-FR" sz="3000" dirty="0" smtClean="0"/>
              <a:t>Classe </a:t>
            </a:r>
            <a:r>
              <a:rPr lang="fr-FR" sz="3000" dirty="0"/>
              <a:t>la DA, la facture </a:t>
            </a:r>
            <a:r>
              <a:rPr lang="fr-FR" sz="3000" dirty="0" err="1"/>
              <a:t>proforma</a:t>
            </a:r>
            <a:r>
              <a:rPr lang="fr-FR" sz="3000" dirty="0"/>
              <a:t> et le BC (un (01) exemplaire) dans son classeur « FACTURES A RECEVOIR ».</a:t>
            </a:r>
          </a:p>
        </p:txBody>
      </p:sp>
    </p:spTree>
    <p:extLst>
      <p:ext uri="{BB962C8B-B14F-4D97-AF65-F5344CB8AC3E}">
        <p14:creationId xmlns:p14="http://schemas.microsoft.com/office/powerpoint/2010/main" val="774637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792" y="108006"/>
            <a:ext cx="9652000" cy="1143000"/>
          </a:xfrm>
        </p:spPr>
        <p:txBody>
          <a:bodyPr>
            <a:norm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59025" y="1198598"/>
            <a:ext cx="10734262" cy="5659401"/>
          </a:xfrm>
        </p:spPr>
        <p:txBody>
          <a:bodyPr>
            <a:noAutofit/>
          </a:bodyPr>
          <a:lstStyle/>
          <a:p>
            <a:r>
              <a:rPr lang="fr-FR" sz="4000" dirty="0" smtClean="0"/>
              <a:t>Lancement de la commande(suite):</a:t>
            </a:r>
          </a:p>
          <a:p>
            <a:pPr lvl="0"/>
            <a:r>
              <a:rPr lang="fr-FR" sz="4000" dirty="0" smtClean="0"/>
              <a:t>4.le </a:t>
            </a:r>
            <a:r>
              <a:rPr lang="fr-FR" sz="4000" dirty="0"/>
              <a:t>Secrétariat du </a:t>
            </a:r>
            <a:r>
              <a:rPr lang="fr-FR" sz="4000" dirty="0" smtClean="0"/>
              <a:t>BE classe </a:t>
            </a:r>
            <a:r>
              <a:rPr lang="fr-FR" sz="4000" dirty="0"/>
              <a:t>le BC dans le classeur </a:t>
            </a:r>
            <a:r>
              <a:rPr lang="fr-FR" sz="4000" b="1" dirty="0"/>
              <a:t>« COMMANDE EN COURS</a:t>
            </a:r>
            <a:r>
              <a:rPr lang="fr-FR" sz="4000" dirty="0"/>
              <a:t> » en attente de la réception de la </a:t>
            </a:r>
            <a:r>
              <a:rPr lang="fr-FR" sz="4000" dirty="0" smtClean="0"/>
              <a:t>commande; Enregistre </a:t>
            </a:r>
            <a:r>
              <a:rPr lang="fr-FR" sz="4000" dirty="0"/>
              <a:t>le BC dans le registre courrier « DEPART » </a:t>
            </a:r>
            <a:r>
              <a:rPr lang="fr-FR" sz="4000" dirty="0" smtClean="0"/>
              <a:t>; Envoie </a:t>
            </a:r>
            <a:r>
              <a:rPr lang="fr-FR" sz="4000" dirty="0"/>
              <a:t>les deux (02) exemplaires du BC au fournisseur</a:t>
            </a:r>
            <a:r>
              <a:rPr lang="fr-FR" sz="4000" dirty="0" smtClean="0"/>
              <a:t>.</a:t>
            </a:r>
          </a:p>
          <a:p>
            <a:r>
              <a:rPr lang="fr-FR" sz="4000" dirty="0" smtClean="0"/>
              <a:t>Les documents utilisés sont </a:t>
            </a:r>
            <a:r>
              <a:rPr lang="fr-FR" sz="4000" dirty="0" smtClean="0">
                <a:effectLst/>
              </a:rPr>
              <a:t>DA, </a:t>
            </a:r>
            <a:r>
              <a:rPr lang="fr-FR" sz="4000" dirty="0" err="1" smtClean="0">
                <a:effectLst/>
              </a:rPr>
              <a:t>BC,</a:t>
            </a:r>
            <a:r>
              <a:rPr lang="fr-FR" sz="4000" dirty="0" err="1" smtClean="0"/>
              <a:t>Proforma</a:t>
            </a:r>
            <a:r>
              <a:rPr lang="fr-FR" sz="4000" dirty="0" smtClean="0"/>
              <a:t> et liasse.</a:t>
            </a:r>
            <a:endParaRPr lang="fr-FR" sz="4000" dirty="0"/>
          </a:p>
        </p:txBody>
      </p:sp>
    </p:spTree>
    <p:extLst>
      <p:ext uri="{BB962C8B-B14F-4D97-AF65-F5344CB8AC3E}">
        <p14:creationId xmlns:p14="http://schemas.microsoft.com/office/powerpoint/2010/main" val="9395471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8538" y="1"/>
            <a:ext cx="9652000" cy="901148"/>
          </a:xfrm>
        </p:spPr>
        <p:txBody>
          <a:bodyPr>
            <a:normAutofit/>
          </a:bodyPr>
          <a:lstStyle/>
          <a:p>
            <a:r>
              <a:rPr lang="fr-FR" sz="5400" dirty="0" smtClean="0"/>
              <a:t>PASSATION DES MARCHES</a:t>
            </a:r>
            <a:endParaRPr lang="fr-FR" sz="5400" dirty="0"/>
          </a:p>
        </p:txBody>
      </p:sp>
      <p:sp>
        <p:nvSpPr>
          <p:cNvPr id="3" name="Espace réservé du contenu 2"/>
          <p:cNvSpPr>
            <a:spLocks noGrp="1"/>
          </p:cNvSpPr>
          <p:nvPr>
            <p:ph idx="1"/>
          </p:nvPr>
        </p:nvSpPr>
        <p:spPr>
          <a:xfrm>
            <a:off x="145774" y="814286"/>
            <a:ext cx="10707756" cy="6043714"/>
          </a:xfrm>
        </p:spPr>
        <p:txBody>
          <a:bodyPr>
            <a:noAutofit/>
          </a:bodyPr>
          <a:lstStyle/>
          <a:p>
            <a:pPr marL="0" indent="0" algn="ctr">
              <a:buNone/>
            </a:pPr>
            <a:r>
              <a:rPr lang="fr-FR" sz="3000" dirty="0" smtClean="0"/>
              <a:t>Modes </a:t>
            </a:r>
            <a:r>
              <a:rPr lang="fr-FR" sz="3000" dirty="0"/>
              <a:t>d’acquisition </a:t>
            </a:r>
            <a:endParaRPr lang="fr-FR" sz="3000" dirty="0" smtClean="0"/>
          </a:p>
          <a:p>
            <a:pPr marL="0" lvl="0" indent="0">
              <a:buNone/>
            </a:pPr>
            <a:r>
              <a:rPr lang="fr-FR" sz="3000" b="1" dirty="0"/>
              <a:t>ACHAT </a:t>
            </a:r>
            <a:r>
              <a:rPr lang="fr-FR" sz="3000" b="1" dirty="0" smtClean="0"/>
              <a:t>DIRECT: </a:t>
            </a:r>
            <a:r>
              <a:rPr lang="fr-FR" sz="3000" dirty="0" smtClean="0"/>
              <a:t>Moins </a:t>
            </a:r>
            <a:r>
              <a:rPr lang="fr-FR" sz="3000" dirty="0"/>
              <a:t>de 300 000 FCFA</a:t>
            </a:r>
            <a:r>
              <a:rPr lang="fr-FR" sz="3000" dirty="0" smtClean="0"/>
              <a:t>.</a:t>
            </a:r>
            <a:r>
              <a:rPr lang="fr-FR" sz="3000" dirty="0"/>
              <a:t> </a:t>
            </a:r>
            <a:endParaRPr lang="fr-FR" sz="3000" dirty="0" smtClean="0"/>
          </a:p>
          <a:p>
            <a:pPr lvl="0"/>
            <a:r>
              <a:rPr lang="fr-FR" sz="3000" dirty="0" smtClean="0"/>
              <a:t>Expression </a:t>
            </a:r>
            <a:r>
              <a:rPr lang="fr-FR" sz="3000" dirty="0"/>
              <a:t>des besoins sur une demande d’achat, établissement du BC ou de la pièce de caisse par le trésorier, puis transmission du tout au BE pour autorisation ; </a:t>
            </a:r>
          </a:p>
          <a:p>
            <a:pPr lvl="0"/>
            <a:r>
              <a:rPr lang="fr-FR" sz="3000" dirty="0"/>
              <a:t>Examen de l’opportunité du BC, signature du BC en cas d’accord par le BE et transmission au Trésorier du BC signé ;</a:t>
            </a:r>
          </a:p>
          <a:p>
            <a:pPr lvl="0"/>
            <a:r>
              <a:rPr lang="fr-FR" sz="3000" dirty="0"/>
              <a:t>saisie du fournisseur par le trésorier pour livraison</a:t>
            </a:r>
          </a:p>
          <a:p>
            <a:r>
              <a:rPr lang="fr-FR" sz="3000" dirty="0"/>
              <a:t>Remise des produits achetés au bénéficiaire et comptabilisation du décaissement</a:t>
            </a:r>
            <a:r>
              <a:rPr lang="fr-FR" sz="3000" dirty="0" smtClean="0"/>
              <a:t>.</a:t>
            </a:r>
            <a:endParaRPr lang="fr-FR" sz="3000" dirty="0"/>
          </a:p>
        </p:txBody>
      </p:sp>
    </p:spTree>
    <p:extLst>
      <p:ext uri="{BB962C8B-B14F-4D97-AF65-F5344CB8AC3E}">
        <p14:creationId xmlns:p14="http://schemas.microsoft.com/office/powerpoint/2010/main" val="40317898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5287" y="0"/>
            <a:ext cx="9652000" cy="848139"/>
          </a:xfrm>
        </p:spPr>
        <p:txBody>
          <a:bodyPr>
            <a:normAutofit fontScale="90000"/>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 y="748024"/>
            <a:ext cx="10880035" cy="6109975"/>
          </a:xfrm>
        </p:spPr>
        <p:txBody>
          <a:bodyPr>
            <a:noAutofit/>
          </a:bodyPr>
          <a:lstStyle/>
          <a:p>
            <a:pPr marL="0" indent="0" algn="ctr">
              <a:buNone/>
            </a:pPr>
            <a:r>
              <a:rPr lang="fr-FR" sz="2700" dirty="0" smtClean="0"/>
              <a:t>Modes d’acquisition (suite)</a:t>
            </a:r>
          </a:p>
          <a:p>
            <a:pPr marL="0" lvl="0" indent="0">
              <a:buNone/>
            </a:pPr>
            <a:r>
              <a:rPr lang="fr-FR" sz="2700" b="1" dirty="0" smtClean="0"/>
              <a:t>DEMANDE DE RENSEIGNEMENT ET DE PRIX</a:t>
            </a:r>
            <a:r>
              <a:rPr lang="fr-FR" sz="2700" dirty="0" smtClean="0"/>
              <a:t> :A partir de 300 000 FCFA</a:t>
            </a:r>
          </a:p>
          <a:p>
            <a:pPr marL="514350" lvl="0" indent="-514350">
              <a:buFont typeface="+mj-lt"/>
              <a:buAutoNum type="arabicPeriod"/>
            </a:pPr>
            <a:r>
              <a:rPr lang="fr-FR" sz="2700" dirty="0" smtClean="0"/>
              <a:t>Etablissement d’une liste d’au moins 3(IDA) prestataires à approcher ; </a:t>
            </a:r>
          </a:p>
          <a:p>
            <a:pPr marL="514350" lvl="0" indent="-514350">
              <a:buFont typeface="+mj-lt"/>
              <a:buAutoNum type="arabicPeriod"/>
            </a:pPr>
            <a:r>
              <a:rPr lang="fr-FR" sz="2700" dirty="0" smtClean="0"/>
              <a:t>Réception et dépouillement des  offres ;</a:t>
            </a:r>
          </a:p>
          <a:p>
            <a:pPr marL="514350" lvl="0" indent="-514350">
              <a:buFont typeface="+mj-lt"/>
              <a:buAutoNum type="arabicPeriod"/>
            </a:pPr>
            <a:r>
              <a:rPr lang="fr-FR" sz="2700" dirty="0" smtClean="0"/>
              <a:t>Examen et signature du PV en cas d’accord par le BE, puis transmission au Président pour notification au fournisseur retenu ;</a:t>
            </a:r>
          </a:p>
          <a:p>
            <a:pPr marL="514350" lvl="0" indent="-514350">
              <a:buFont typeface="+mj-lt"/>
              <a:buAutoNum type="arabicPeriod"/>
            </a:pPr>
            <a:r>
              <a:rPr lang="fr-FR" sz="2700" dirty="0" smtClean="0"/>
              <a:t> Lancement de la commande Réception de la commande par la commission de réception / </a:t>
            </a:r>
          </a:p>
          <a:p>
            <a:pPr marL="514350" lvl="0" indent="-514350">
              <a:buFont typeface="+mj-lt"/>
              <a:buAutoNum type="arabicPeriod"/>
            </a:pPr>
            <a:r>
              <a:rPr lang="fr-FR" sz="2700" dirty="0" smtClean="0"/>
              <a:t>Si la livraison est conforme le BL est signé puis un PV de réception pré-numéroté est dressé et signé par les membres de la commission de réception.</a:t>
            </a:r>
          </a:p>
          <a:p>
            <a:pPr marL="0" indent="0">
              <a:buNone/>
            </a:pPr>
            <a:endParaRPr lang="fr-FR" sz="2700" dirty="0" smtClean="0"/>
          </a:p>
          <a:p>
            <a:endParaRPr lang="fr-FR" sz="2700" dirty="0"/>
          </a:p>
        </p:txBody>
      </p:sp>
    </p:spTree>
    <p:extLst>
      <p:ext uri="{BB962C8B-B14F-4D97-AF65-F5344CB8AC3E}">
        <p14:creationId xmlns:p14="http://schemas.microsoft.com/office/powerpoint/2010/main" val="2903598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91547" y="0"/>
            <a:ext cx="9652000" cy="779890"/>
          </a:xfrm>
        </p:spPr>
        <p:txBody>
          <a:bodyPr>
            <a:normAutofit fontScale="90000"/>
          </a:bodyPr>
          <a:lstStyle/>
          <a:p>
            <a:r>
              <a:rPr lang="fr-FR" sz="5400" dirty="0" smtClean="0"/>
              <a:t>PASSATION DES MARCHES</a:t>
            </a:r>
            <a:endParaRPr lang="fr-FR" sz="5400" dirty="0"/>
          </a:p>
        </p:txBody>
      </p:sp>
      <p:sp>
        <p:nvSpPr>
          <p:cNvPr id="3" name="Espace réservé du contenu 2"/>
          <p:cNvSpPr>
            <a:spLocks noGrp="1"/>
          </p:cNvSpPr>
          <p:nvPr>
            <p:ph idx="1"/>
          </p:nvPr>
        </p:nvSpPr>
        <p:spPr>
          <a:xfrm>
            <a:off x="145774" y="734771"/>
            <a:ext cx="10853530" cy="6023837"/>
          </a:xfrm>
        </p:spPr>
        <p:txBody>
          <a:bodyPr>
            <a:noAutofit/>
          </a:bodyPr>
          <a:lstStyle/>
          <a:p>
            <a:pPr marL="0" indent="0" algn="ctr">
              <a:buNone/>
            </a:pPr>
            <a:r>
              <a:rPr lang="fr-FR" sz="4400" dirty="0" smtClean="0"/>
              <a:t>GESTION DES STOCKS</a:t>
            </a:r>
          </a:p>
          <a:p>
            <a:pPr marL="514350" indent="-514350">
              <a:buFont typeface="+mj-lt"/>
              <a:buAutoNum type="arabicPeriod"/>
            </a:pPr>
            <a:r>
              <a:rPr lang="fr-FR" sz="2800" dirty="0">
                <a:latin typeface="Times New Roman" panose="02020603050405020304" pitchFamily="18" charset="0"/>
                <a:cs typeface="Times New Roman" panose="02020603050405020304" pitchFamily="18" charset="0"/>
              </a:rPr>
              <a:t>Les stocks sont constitués de fournitures, de matériels et d’équipements acquis à titre onéreux (achats effectués par le CGE) ou gratuit (contributions en nature).</a:t>
            </a:r>
          </a:p>
          <a:p>
            <a:pPr marL="514350" indent="-514350">
              <a:buFont typeface="+mj-lt"/>
              <a:buAutoNum type="arabicPeriod"/>
            </a:pPr>
            <a:r>
              <a:rPr lang="fr-FR" sz="2800" dirty="0" smtClean="0">
                <a:latin typeface="Times New Roman" panose="02020603050405020304" pitchFamily="18" charset="0"/>
                <a:cs typeface="Times New Roman" panose="02020603050405020304" pitchFamily="18" charset="0"/>
              </a:rPr>
              <a:t>Le </a:t>
            </a:r>
            <a:r>
              <a:rPr lang="fr-FR" sz="2800" dirty="0">
                <a:latin typeface="Times New Roman" panose="02020603050405020304" pitchFamily="18" charset="0"/>
                <a:cs typeface="Times New Roman" panose="02020603050405020304" pitchFamily="18" charset="0"/>
              </a:rPr>
              <a:t>comptable matières est responsable de la gestion des stocks. </a:t>
            </a:r>
          </a:p>
          <a:p>
            <a:pPr marL="514350" indent="-514350">
              <a:buFont typeface="+mj-lt"/>
              <a:buAutoNum type="arabicPeriod"/>
            </a:pPr>
            <a:r>
              <a:rPr lang="fr-FR" sz="2800" dirty="0">
                <a:latin typeface="Times New Roman" panose="02020603050405020304" pitchFamily="18" charset="0"/>
                <a:cs typeface="Times New Roman" panose="02020603050405020304" pitchFamily="18" charset="0"/>
              </a:rPr>
              <a:t>Les fournitures, matériels et équipements devront être, autant que possible, stockés dans l’enceinte de l’école dans un endroit sécurisé.</a:t>
            </a:r>
          </a:p>
          <a:p>
            <a:pPr marL="514350" indent="-514350">
              <a:buFont typeface="+mj-lt"/>
              <a:buAutoNum type="arabicPeriod"/>
            </a:pPr>
            <a:r>
              <a:rPr lang="fr-FR" sz="2800" dirty="0" smtClean="0">
                <a:latin typeface="Times New Roman" panose="02020603050405020304" pitchFamily="18" charset="0"/>
                <a:cs typeface="Times New Roman" panose="02020603050405020304" pitchFamily="18" charset="0"/>
              </a:rPr>
              <a:t>La </a:t>
            </a:r>
            <a:r>
              <a:rPr lang="fr-FR" sz="2800" dirty="0">
                <a:latin typeface="Times New Roman" panose="02020603050405020304" pitchFamily="18" charset="0"/>
                <a:cs typeface="Times New Roman" panose="02020603050405020304" pitchFamily="18" charset="0"/>
              </a:rPr>
              <a:t>comptabilité et le suivi sont assurés à travers des fiches de stocks et le journal des contributions en nature.</a:t>
            </a:r>
          </a:p>
          <a:p>
            <a:pPr marL="514350" indent="-514350">
              <a:buFont typeface="+mj-lt"/>
              <a:buAutoNum type="arabicPeriod"/>
            </a:pPr>
            <a:r>
              <a:rPr lang="fr-FR" sz="2800" dirty="0" smtClean="0">
                <a:latin typeface="Times New Roman" panose="02020603050405020304" pitchFamily="18" charset="0"/>
                <a:cs typeface="Times New Roman" panose="02020603050405020304" pitchFamily="18" charset="0"/>
              </a:rPr>
              <a:t>Les </a:t>
            </a:r>
            <a:r>
              <a:rPr lang="fr-FR" sz="2800" dirty="0">
                <a:latin typeface="Times New Roman" panose="02020603050405020304" pitchFamily="18" charset="0"/>
                <a:cs typeface="Times New Roman" panose="02020603050405020304" pitchFamily="18" charset="0"/>
              </a:rPr>
              <a:t>entrées en stocks sont enregistrées dans les fiches de stocks à la réception des commandes ou des contributions en nature.</a:t>
            </a:r>
          </a:p>
          <a:p>
            <a:pPr marL="0" indent="0">
              <a:buNone/>
            </a:pPr>
            <a:r>
              <a:rPr lang="fr-FR" sz="2800" dirty="0" smtClean="0"/>
              <a:t>Nota </a:t>
            </a:r>
            <a:r>
              <a:rPr lang="fr-FR" sz="2800" dirty="0"/>
              <a:t>bene : une fiche est établie pour chaque nature de </a:t>
            </a:r>
            <a:r>
              <a:rPr lang="fr-FR" sz="2800" dirty="0" smtClean="0"/>
              <a:t>stock</a:t>
            </a:r>
            <a:r>
              <a:rPr lang="fr-FR" sz="2800" dirty="0"/>
              <a:t/>
            </a:r>
            <a:br>
              <a:rPr lang="fr-FR" sz="2800" dirty="0"/>
            </a:br>
            <a:endParaRPr lang="fr-FR" sz="2800" dirty="0"/>
          </a:p>
          <a:p>
            <a:endParaRPr lang="fr-FR" sz="1050" dirty="0"/>
          </a:p>
          <a:p>
            <a:pPr marL="0" indent="0">
              <a:buNone/>
            </a:pPr>
            <a:endParaRPr lang="fr-FR" sz="1050" dirty="0"/>
          </a:p>
          <a:p>
            <a:pPr marL="0" indent="0">
              <a:buNone/>
            </a:pPr>
            <a:endParaRPr lang="fr-FR" sz="1050" dirty="0"/>
          </a:p>
        </p:txBody>
      </p:sp>
    </p:spTree>
    <p:extLst>
      <p:ext uri="{BB962C8B-B14F-4D97-AF65-F5344CB8AC3E}">
        <p14:creationId xmlns:p14="http://schemas.microsoft.com/office/powerpoint/2010/main" val="32428055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9026" y="0"/>
            <a:ext cx="9652000" cy="832899"/>
          </a:xfrm>
        </p:spPr>
        <p:txBody>
          <a:bodyPr>
            <a:normAutofit/>
          </a:bodyPr>
          <a:lstStyle/>
          <a:p>
            <a:r>
              <a:rPr lang="fr-FR" sz="5400" dirty="0" smtClean="0"/>
              <a:t>PASSATION DES MARCHES</a:t>
            </a:r>
            <a:endParaRPr lang="fr-FR" sz="5400" dirty="0"/>
          </a:p>
        </p:txBody>
      </p:sp>
      <p:sp>
        <p:nvSpPr>
          <p:cNvPr id="3" name="Espace réservé du contenu 2"/>
          <p:cNvSpPr>
            <a:spLocks noGrp="1"/>
          </p:cNvSpPr>
          <p:nvPr>
            <p:ph idx="1"/>
          </p:nvPr>
        </p:nvSpPr>
        <p:spPr>
          <a:xfrm>
            <a:off x="96077" y="710028"/>
            <a:ext cx="10770705" cy="6121468"/>
          </a:xfrm>
        </p:spPr>
        <p:txBody>
          <a:bodyPr>
            <a:noAutofit/>
          </a:bodyPr>
          <a:lstStyle/>
          <a:p>
            <a:pPr marL="0" indent="0" algn="ctr">
              <a:buNone/>
            </a:pPr>
            <a:r>
              <a:rPr lang="fr-FR" sz="2700" dirty="0" smtClean="0"/>
              <a:t>GESTION DES STOCKS</a:t>
            </a:r>
            <a:endParaRPr lang="fr-FR" sz="2700" b="1" dirty="0" smtClean="0"/>
          </a:p>
          <a:p>
            <a:r>
              <a:rPr lang="fr-FR" sz="2700" b="1" dirty="0" smtClean="0"/>
              <a:t>Les sorties de stocks </a:t>
            </a:r>
            <a:r>
              <a:rPr lang="fr-FR" sz="2700" dirty="0" smtClean="0"/>
              <a:t>sont enregistrées dans les fiches de stocks et sont autorisées par le Secrétaire.</a:t>
            </a:r>
          </a:p>
          <a:p>
            <a:r>
              <a:rPr lang="fr-FR" sz="2700" dirty="0" smtClean="0"/>
              <a:t>Toute réforme de matériel ou mise au rebut de fournitures doit être dûment autorisée par le Bureau du CGE.</a:t>
            </a:r>
          </a:p>
          <a:p>
            <a:r>
              <a:rPr lang="fr-FR" sz="2700" b="1" dirty="0" smtClean="0"/>
              <a:t>Inventaire des stocks : </a:t>
            </a:r>
            <a:r>
              <a:rPr lang="fr-FR" sz="2700" dirty="0" smtClean="0"/>
              <a:t>une situation des stocks est arrêtée tous les mois par le comptable matières et le Secrétaire avant d’être validée par le Président.</a:t>
            </a:r>
          </a:p>
          <a:p>
            <a:r>
              <a:rPr lang="fr-FR" sz="2700" dirty="0" smtClean="0"/>
              <a:t>Le solde théorique figurant sur les fiches de stocks est rapproché au solde réel découlant du comptage physique. </a:t>
            </a:r>
            <a:r>
              <a:rPr lang="fr-FR" sz="2700" b="1" i="1" dirty="0" smtClean="0"/>
              <a:t>Les écarts devront être justifiés</a:t>
            </a:r>
            <a:r>
              <a:rPr lang="fr-FR" sz="2700" i="1" dirty="0" smtClean="0"/>
              <a:t>.</a:t>
            </a:r>
            <a:endParaRPr lang="fr-FR" sz="2700" dirty="0" smtClean="0"/>
          </a:p>
          <a:p>
            <a:r>
              <a:rPr lang="fr-FR" sz="2700" b="1" dirty="0" smtClean="0"/>
              <a:t>Identification des stocks :</a:t>
            </a:r>
            <a:r>
              <a:rPr lang="fr-FR" sz="2700" dirty="0" smtClean="0"/>
              <a:t> les fournitures non fongibles, les matériels et équipements sont estampillés avec le cachet du CGE ou marqués à l’encre indélébile afin d’être identifiés</a:t>
            </a:r>
          </a:p>
          <a:p>
            <a:pPr marL="0" indent="0">
              <a:buNone/>
            </a:pPr>
            <a:endParaRPr lang="fr-FR" sz="2700" dirty="0" smtClean="0"/>
          </a:p>
          <a:p>
            <a:endParaRPr lang="fr-FR" sz="2700" dirty="0"/>
          </a:p>
        </p:txBody>
      </p:sp>
    </p:spTree>
    <p:extLst>
      <p:ext uri="{BB962C8B-B14F-4D97-AF65-F5344CB8AC3E}">
        <p14:creationId xmlns:p14="http://schemas.microsoft.com/office/powerpoint/2010/main" val="14007150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5043" y="320040"/>
            <a:ext cx="10986053" cy="766638"/>
          </a:xfrm>
        </p:spPr>
        <p:txBody>
          <a:bodyPr>
            <a:noAutofit/>
          </a:bodyPr>
          <a:lstStyle/>
          <a:p>
            <a:r>
              <a:rPr lang="fr-FR" sz="4400" b="1" u="sng" dirty="0"/>
              <a:t>GESTION DES </a:t>
            </a:r>
            <a:r>
              <a:rPr lang="fr-FR" sz="4400" b="1" u="sng" dirty="0" smtClean="0"/>
              <a:t>FONDS: </a:t>
            </a:r>
            <a:r>
              <a:rPr lang="fr-FR" sz="4400" b="1" u="sng" dirty="0"/>
              <a:t>BANQUE / </a:t>
            </a:r>
            <a:r>
              <a:rPr lang="fr-FR" sz="4400" b="1" u="sng" dirty="0" smtClean="0"/>
              <a:t>CAISSE</a:t>
            </a:r>
            <a:endParaRPr lang="fr-FR" sz="4400" dirty="0"/>
          </a:p>
        </p:txBody>
      </p:sp>
      <p:sp>
        <p:nvSpPr>
          <p:cNvPr id="3" name="Espace réservé du contenu 2"/>
          <p:cNvSpPr>
            <a:spLocks noGrp="1"/>
          </p:cNvSpPr>
          <p:nvPr>
            <p:ph idx="1"/>
          </p:nvPr>
        </p:nvSpPr>
        <p:spPr>
          <a:xfrm>
            <a:off x="251791" y="1384129"/>
            <a:ext cx="10455966" cy="5241958"/>
          </a:xfrm>
        </p:spPr>
        <p:txBody>
          <a:bodyPr>
            <a:noAutofit/>
          </a:bodyPr>
          <a:lstStyle/>
          <a:p>
            <a:pPr marL="514350" indent="-514350">
              <a:buFont typeface="+mj-lt"/>
              <a:buAutoNum type="alphaUcPeriod"/>
            </a:pPr>
            <a:r>
              <a:rPr lang="fr-FR" sz="4800" u="sng" dirty="0" smtClean="0"/>
              <a:t>LES </a:t>
            </a:r>
            <a:r>
              <a:rPr lang="fr-FR" sz="4800" u="sng" dirty="0"/>
              <a:t>OPERATIONS DE </a:t>
            </a:r>
            <a:r>
              <a:rPr lang="fr-FR" sz="4800" u="sng" dirty="0" smtClean="0"/>
              <a:t>BANQUE</a:t>
            </a:r>
          </a:p>
          <a:p>
            <a:r>
              <a:rPr lang="fr-FR" sz="4800" b="1" dirty="0"/>
              <a:t>LE JOURNAL DE </a:t>
            </a:r>
            <a:r>
              <a:rPr lang="fr-FR" sz="4800" b="1" dirty="0" smtClean="0"/>
              <a:t>BANQUE</a:t>
            </a:r>
            <a:endParaRPr lang="fr-FR" sz="4800" dirty="0" smtClean="0"/>
          </a:p>
          <a:p>
            <a:pPr marL="0" indent="0">
              <a:buNone/>
            </a:pPr>
            <a:r>
              <a:rPr lang="fr-FR" sz="4800" b="1" dirty="0" smtClean="0"/>
              <a:t>B.  </a:t>
            </a:r>
            <a:r>
              <a:rPr lang="fr-FR" sz="4800" b="1" u="sng" dirty="0"/>
              <a:t>LES OPERATIONS DE CAISSE</a:t>
            </a:r>
            <a:endParaRPr lang="fr-FR" sz="4800" b="1" dirty="0"/>
          </a:p>
          <a:p>
            <a:r>
              <a:rPr lang="fr-FR" sz="4800" b="1" u="sng" dirty="0" smtClean="0"/>
              <a:t>LE </a:t>
            </a:r>
            <a:r>
              <a:rPr lang="fr-FR" sz="4800" b="1" u="sng" dirty="0"/>
              <a:t>BROUILLARD DE </a:t>
            </a:r>
            <a:r>
              <a:rPr lang="fr-FR" sz="4800" b="1" u="sng" dirty="0" smtClean="0"/>
              <a:t>CAISSE</a:t>
            </a:r>
            <a:endParaRPr lang="fr-FR" sz="4800" dirty="0"/>
          </a:p>
          <a:p>
            <a:r>
              <a:rPr lang="fr-FR" sz="4800" dirty="0" smtClean="0"/>
              <a:t>LA TENUE DE LA COMPTABILITE DES FONDS</a:t>
            </a:r>
            <a:endParaRPr lang="fr-FR" sz="4800" dirty="0"/>
          </a:p>
        </p:txBody>
      </p:sp>
    </p:spTree>
    <p:extLst>
      <p:ext uri="{BB962C8B-B14F-4D97-AF65-F5344CB8AC3E}">
        <p14:creationId xmlns:p14="http://schemas.microsoft.com/office/powerpoint/2010/main" val="12198093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792" y="0"/>
            <a:ext cx="9652000" cy="581108"/>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72277" y="668511"/>
            <a:ext cx="10880035" cy="6037089"/>
          </a:xfrm>
        </p:spPr>
        <p:txBody>
          <a:bodyPr>
            <a:noAutofit/>
          </a:bodyPr>
          <a:lstStyle/>
          <a:p>
            <a:pPr marL="0" indent="0" algn="ctr">
              <a:buNone/>
            </a:pPr>
            <a:r>
              <a:rPr lang="fr-FR" sz="2750" dirty="0" smtClean="0"/>
              <a:t>LES OPERATIONS DE BANQUE</a:t>
            </a:r>
          </a:p>
          <a:p>
            <a:pPr lvl="0"/>
            <a:r>
              <a:rPr lang="fr-FR" sz="2750" dirty="0"/>
              <a:t>Le CGE dispose d’un compte courant bancaire (ou postal) ouvert au nom de l’école. Ce compte ouvert dans une banque commerciale du département, doit être identifié par le code banque, le code guichet, le numéro de compte et la clé RIB </a:t>
            </a:r>
            <a:r>
              <a:rPr lang="fr-FR" sz="2750" dirty="0" smtClean="0"/>
              <a:t>;</a:t>
            </a:r>
            <a:endParaRPr lang="fr-FR" sz="2750" dirty="0"/>
          </a:p>
          <a:p>
            <a:pPr lvl="0"/>
            <a:r>
              <a:rPr lang="fr-FR" sz="2750" dirty="0"/>
              <a:t>Toutes les ressources de l’école doivent être déposées dans ce compte courant sans exception </a:t>
            </a:r>
            <a:r>
              <a:rPr lang="fr-FR" sz="2750" dirty="0" smtClean="0"/>
              <a:t>;</a:t>
            </a:r>
            <a:endParaRPr lang="fr-FR" sz="2750" dirty="0"/>
          </a:p>
          <a:p>
            <a:pPr lvl="0"/>
            <a:r>
              <a:rPr lang="fr-FR" sz="2750" dirty="0"/>
              <a:t>Les ressources sont exclusivement destinées à l’amélioration de la qualité et de l’équité des enseignements –apprentissages et au fonctionnement de l’école </a:t>
            </a:r>
          </a:p>
          <a:p>
            <a:pPr lvl="0"/>
            <a:r>
              <a:rPr lang="fr-FR" sz="2750" dirty="0"/>
              <a:t>Tous les mouvements de fonds de ce compte font l’objet d’un contrôle régulier par le Bureau Exécutif (en interne), les commissaires aux comptes élus par l’AG du CGE et les services compétents de l’Etat (externe</a:t>
            </a:r>
            <a:r>
              <a:rPr lang="fr-FR" sz="2750" dirty="0" smtClean="0"/>
              <a:t>)</a:t>
            </a:r>
            <a:br>
              <a:rPr lang="fr-FR" sz="2750" dirty="0" smtClean="0"/>
            </a:br>
            <a:endParaRPr lang="fr-FR" sz="2750" dirty="0"/>
          </a:p>
        </p:txBody>
      </p:sp>
    </p:spTree>
    <p:extLst>
      <p:ext uri="{BB962C8B-B14F-4D97-AF65-F5344CB8AC3E}">
        <p14:creationId xmlns:p14="http://schemas.microsoft.com/office/powerpoint/2010/main" val="32245255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0"/>
            <a:ext cx="9652000" cy="647369"/>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238539" y="734772"/>
            <a:ext cx="10641496" cy="6123227"/>
          </a:xfrm>
        </p:spPr>
        <p:txBody>
          <a:bodyPr>
            <a:noAutofit/>
          </a:bodyPr>
          <a:lstStyle/>
          <a:p>
            <a:pPr marL="0" indent="0" algn="ctr">
              <a:buNone/>
            </a:pPr>
            <a:r>
              <a:rPr lang="fr-FR" sz="3500" dirty="0" smtClean="0"/>
              <a:t>LES OPERATIONS DE BANQUE</a:t>
            </a:r>
          </a:p>
          <a:p>
            <a:pPr lvl="0"/>
            <a:r>
              <a:rPr lang="fr-FR" sz="3500" dirty="0"/>
              <a:t>Les ressources allouées à l’école sont gérées par un membre du CGE assurant la fonction de trésorier élu au sein du Bureau Exécutif </a:t>
            </a:r>
            <a:r>
              <a:rPr lang="fr-FR" sz="3500" dirty="0" smtClean="0"/>
              <a:t>;</a:t>
            </a:r>
            <a:endParaRPr lang="fr-FR" sz="3500" dirty="0"/>
          </a:p>
          <a:p>
            <a:pPr lvl="0"/>
            <a:r>
              <a:rPr lang="fr-FR" sz="3500" dirty="0"/>
              <a:t>Les fonctions d’ordonnateur des fonds alloués à l’école sont assumées par un membre du comité de gestion dûment habilité par le trésor public s’il ne dispose pas de matricule de la fonction publique </a:t>
            </a:r>
            <a:r>
              <a:rPr lang="fr-FR" sz="3500" dirty="0" smtClean="0"/>
              <a:t>;</a:t>
            </a:r>
            <a:endParaRPr lang="fr-FR" sz="3500" dirty="0"/>
          </a:p>
          <a:p>
            <a:pPr lvl="0"/>
            <a:r>
              <a:rPr lang="fr-FR" sz="3500" dirty="0"/>
              <a:t>Toute dépense d’un montant supérieur à 15 000 FCFA doit être réglée par chèque ;</a:t>
            </a:r>
          </a:p>
          <a:p>
            <a:endParaRPr lang="fr-FR" sz="3500" dirty="0"/>
          </a:p>
          <a:p>
            <a:pPr marL="0" indent="0">
              <a:buNone/>
            </a:pPr>
            <a:endParaRPr lang="fr-FR" sz="3500" dirty="0" smtClean="0"/>
          </a:p>
          <a:p>
            <a:endParaRPr lang="fr-FR" sz="3500" dirty="0"/>
          </a:p>
        </p:txBody>
      </p:sp>
    </p:spTree>
    <p:extLst>
      <p:ext uri="{BB962C8B-B14F-4D97-AF65-F5344CB8AC3E}">
        <p14:creationId xmlns:p14="http://schemas.microsoft.com/office/powerpoint/2010/main" val="7689746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3475" y="1"/>
            <a:ext cx="10515600" cy="742122"/>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19269" y="795130"/>
            <a:ext cx="10787269" cy="6062869"/>
          </a:xfrm>
        </p:spPr>
        <p:txBody>
          <a:bodyPr>
            <a:noAutofit/>
          </a:bodyPr>
          <a:lstStyle/>
          <a:p>
            <a:pPr marL="0" indent="0" algn="ctr">
              <a:buNone/>
            </a:pPr>
            <a:r>
              <a:rPr lang="fr-FR" sz="2800" b="1" dirty="0" smtClean="0">
                <a:latin typeface="Arial Narrow" pitchFamily="34" charset="0"/>
              </a:rPr>
              <a:t>LES OPERATIONS DE BANQUE</a:t>
            </a:r>
            <a:endParaRPr lang="fr-FR" sz="2800" dirty="0" smtClean="0"/>
          </a:p>
          <a:p>
            <a:r>
              <a:rPr lang="fr-FR" sz="2200" dirty="0" smtClean="0"/>
              <a:t>Le </a:t>
            </a:r>
            <a:r>
              <a:rPr lang="fr-FR" sz="2200" dirty="0"/>
              <a:t>journal de banque tenu par le trésorier retrace toutes les opérations financières faites sur ce compte : </a:t>
            </a:r>
          </a:p>
          <a:p>
            <a:pPr lvl="0"/>
            <a:r>
              <a:rPr lang="fr-FR" sz="2200" dirty="0" smtClean="0"/>
              <a:t>Enregistrement </a:t>
            </a:r>
            <a:r>
              <a:rPr lang="fr-FR" sz="2200" dirty="0"/>
              <a:t>des avis de débit ou crédit de la banque au débit du journal de banque ;</a:t>
            </a:r>
          </a:p>
          <a:p>
            <a:pPr lvl="0"/>
            <a:r>
              <a:rPr lang="fr-FR" sz="2200" dirty="0"/>
              <a:t>Enregistrement des dépenses faites par chèque au crédit du journal de banque (factures fournisseurs entre autres) ;</a:t>
            </a:r>
          </a:p>
          <a:p>
            <a:pPr lvl="0"/>
            <a:r>
              <a:rPr lang="fr-FR" sz="2200" dirty="0"/>
              <a:t>Enregistrement des frais de tenue de ce compte et agios sur la base des relevés bancaires reçus.</a:t>
            </a:r>
          </a:p>
          <a:p>
            <a:r>
              <a:rPr lang="fr-FR" sz="2200" dirty="0"/>
              <a:t>Le rapport trimestriel doit faire état du solde du compte et de la situation globale de trésorerie (état des recettes et des dépenses de la période</a:t>
            </a:r>
            <a:r>
              <a:rPr lang="fr-FR" sz="2200" dirty="0" smtClean="0"/>
              <a:t>).</a:t>
            </a:r>
            <a:r>
              <a:rPr lang="fr-FR" sz="2200" b="1" i="1" dirty="0"/>
              <a:t> </a:t>
            </a:r>
            <a:endParaRPr lang="fr-FR" sz="2200" dirty="0"/>
          </a:p>
          <a:p>
            <a:r>
              <a:rPr lang="fr-FR" sz="2200" b="1" i="1" dirty="0"/>
              <a:t>Les entrées</a:t>
            </a:r>
            <a:r>
              <a:rPr lang="fr-FR" sz="2200" dirty="0"/>
              <a:t> en compte sont effectuées directement par les différents partenaires contributeurs au financement en numéraire du CGE ou par le Trésorier du </a:t>
            </a:r>
            <a:r>
              <a:rPr lang="fr-FR" sz="2200" dirty="0" smtClean="0"/>
              <a:t>CGE.</a:t>
            </a:r>
            <a:endParaRPr lang="fr-FR" sz="2200" dirty="0"/>
          </a:p>
          <a:p>
            <a:r>
              <a:rPr lang="fr-FR" sz="2200" b="1" i="1" dirty="0" smtClean="0"/>
              <a:t>Les </a:t>
            </a:r>
            <a:r>
              <a:rPr lang="fr-FR" sz="2200" b="1" i="1" dirty="0"/>
              <a:t>sorties</a:t>
            </a:r>
            <a:r>
              <a:rPr lang="fr-FR" sz="2200" dirty="0"/>
              <a:t> sont effectuées par chèque. Un chèque est établi au nom du bénéficiaire ou du Trésorier lorsqu’il s’agit de réapprovisionner la caisse</a:t>
            </a:r>
            <a:r>
              <a:rPr lang="fr-FR" sz="2200" dirty="0" smtClean="0"/>
              <a:t>.</a:t>
            </a:r>
            <a:endParaRPr lang="fr-FR" sz="2200" dirty="0"/>
          </a:p>
        </p:txBody>
      </p:sp>
    </p:spTree>
    <p:extLst>
      <p:ext uri="{BB962C8B-B14F-4D97-AF65-F5344CB8AC3E}">
        <p14:creationId xmlns:p14="http://schemas.microsoft.com/office/powerpoint/2010/main" val="12827251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8539" y="0"/>
            <a:ext cx="9652000" cy="740134"/>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32522" y="867294"/>
            <a:ext cx="10721008" cy="5990706"/>
          </a:xfrm>
        </p:spPr>
        <p:txBody>
          <a:bodyPr>
            <a:noAutofit/>
          </a:bodyPr>
          <a:lstStyle/>
          <a:p>
            <a:r>
              <a:rPr lang="fr-FR" sz="3100" dirty="0"/>
              <a:t>Le journal de banque retrace toutes les opérations du compte courant bancaire ouvert au nom du Trésorier du </a:t>
            </a:r>
            <a:r>
              <a:rPr lang="fr-FR" sz="3100" dirty="0" smtClean="0"/>
              <a:t>CGE.</a:t>
            </a:r>
          </a:p>
          <a:p>
            <a:r>
              <a:rPr lang="fr-FR" sz="3100" dirty="0" smtClean="0"/>
              <a:t>Au </a:t>
            </a:r>
            <a:r>
              <a:rPr lang="fr-FR" sz="3100" dirty="0"/>
              <a:t>débit toutes les opérations d’encaissement par virement (avis de virement) ou par chèque </a:t>
            </a:r>
            <a:r>
              <a:rPr lang="fr-FR" sz="3100" dirty="0" smtClean="0"/>
              <a:t>;</a:t>
            </a:r>
            <a:endParaRPr lang="fr-FR" sz="3100" dirty="0"/>
          </a:p>
          <a:p>
            <a:r>
              <a:rPr lang="fr-FR" sz="3100" dirty="0"/>
              <a:t>Au crédit toutes les dépenses par chèque ou virement faites pour l’acquisition de biens ou services ou toute autre dépense éligible</a:t>
            </a:r>
            <a:r>
              <a:rPr lang="fr-FR" sz="3100" dirty="0" smtClean="0"/>
              <a:t>.</a:t>
            </a:r>
            <a:endParaRPr lang="fr-FR" sz="3100" dirty="0"/>
          </a:p>
          <a:p>
            <a:r>
              <a:rPr lang="fr-FR" sz="3100" dirty="0"/>
              <a:t>Il est tenu au jour le jour et permet au trésorier de connaitre le solde du compte courant, sous réserve d’opérations passées par la Banque à son insu (les agios et frais de tenue de compte par exemple).</a:t>
            </a:r>
          </a:p>
          <a:p>
            <a:endParaRPr lang="fr-FR" sz="3100" dirty="0"/>
          </a:p>
        </p:txBody>
      </p:sp>
    </p:spTree>
    <p:extLst>
      <p:ext uri="{BB962C8B-B14F-4D97-AF65-F5344CB8AC3E}">
        <p14:creationId xmlns:p14="http://schemas.microsoft.com/office/powerpoint/2010/main" val="31278863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32522" y="0"/>
            <a:ext cx="9652000" cy="753386"/>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92764" y="840790"/>
            <a:ext cx="10747513" cy="6017210"/>
          </a:xfrm>
        </p:spPr>
        <p:txBody>
          <a:bodyPr>
            <a:normAutofit fontScale="92500" lnSpcReduction="10000"/>
          </a:bodyPr>
          <a:lstStyle/>
          <a:p>
            <a:pPr marL="0" indent="0" algn="ctr">
              <a:buNone/>
            </a:pPr>
            <a:r>
              <a:rPr lang="fr-FR" b="1" dirty="0" smtClean="0"/>
              <a:t> </a:t>
            </a:r>
            <a:r>
              <a:rPr lang="fr-FR" b="1" u="sng" dirty="0"/>
              <a:t>LES OPERATIONS DE CAISSE</a:t>
            </a:r>
            <a:endParaRPr lang="fr-FR" b="1" dirty="0"/>
          </a:p>
          <a:p>
            <a:pPr lvl="0"/>
            <a:r>
              <a:rPr lang="fr-FR" dirty="0"/>
              <a:t>La caisse n’est alimentée que par chèque bancaire après une demande d’approvisionnement du caissier visée par le président du CGE </a:t>
            </a:r>
            <a:r>
              <a:rPr lang="fr-FR" dirty="0" smtClean="0"/>
              <a:t>;</a:t>
            </a:r>
            <a:r>
              <a:rPr lang="fr-FR" dirty="0"/>
              <a:t> </a:t>
            </a:r>
          </a:p>
          <a:p>
            <a:pPr lvl="0"/>
            <a:r>
              <a:rPr lang="fr-FR" dirty="0"/>
              <a:t>Avant tout réapprovisionnement de la caisse les pièces justificatives de la période précédente doivent être vérifiées par le trésorier </a:t>
            </a:r>
            <a:r>
              <a:rPr lang="fr-FR" dirty="0" smtClean="0"/>
              <a:t>;</a:t>
            </a:r>
            <a:r>
              <a:rPr lang="fr-FR" dirty="0"/>
              <a:t> </a:t>
            </a:r>
          </a:p>
          <a:p>
            <a:pPr lvl="0"/>
            <a:r>
              <a:rPr lang="fr-FR" dirty="0"/>
              <a:t>La caisse est à fonds fixes et, à tout moment, les espèces ajoutées aux pièces justificatives doivent donner le montant de l’encaisse maximale </a:t>
            </a:r>
            <a:r>
              <a:rPr lang="fr-FR" dirty="0" smtClean="0"/>
              <a:t>;</a:t>
            </a:r>
            <a:r>
              <a:rPr lang="fr-FR" dirty="0"/>
              <a:t> </a:t>
            </a:r>
          </a:p>
          <a:p>
            <a:pPr lvl="0"/>
            <a:r>
              <a:rPr lang="fr-FR" dirty="0"/>
              <a:t>L’encaisse maximale de la caisse est de 100 000 FCFA </a:t>
            </a:r>
            <a:r>
              <a:rPr lang="fr-FR" dirty="0" smtClean="0"/>
              <a:t>;</a:t>
            </a:r>
            <a:endParaRPr lang="fr-FR" dirty="0"/>
          </a:p>
          <a:p>
            <a:pPr lvl="0"/>
            <a:r>
              <a:rPr lang="fr-FR" dirty="0"/>
              <a:t>L’encaisse minimale de la caisse est de 20 000 FCFA </a:t>
            </a:r>
            <a:r>
              <a:rPr lang="fr-FR" dirty="0" smtClean="0"/>
              <a:t>;</a:t>
            </a:r>
            <a:endParaRPr lang="fr-FR" dirty="0"/>
          </a:p>
          <a:p>
            <a:pPr lvl="0"/>
            <a:r>
              <a:rPr lang="fr-FR" dirty="0"/>
              <a:t>Les dépenses à régler par la caisse sont inférieures ou égales à 15 000 F CFA </a:t>
            </a:r>
            <a:r>
              <a:rPr lang="fr-FR" dirty="0" smtClean="0"/>
              <a:t>;</a:t>
            </a:r>
            <a:endParaRPr lang="fr-FR" dirty="0"/>
          </a:p>
          <a:p>
            <a:pPr lvl="0"/>
            <a:r>
              <a:rPr lang="fr-FR" dirty="0"/>
              <a:t>Aucun décaissement ne peut être effectué sans pièce justificative visée par le trésorier et/ou le président du CGE </a:t>
            </a:r>
            <a:r>
              <a:rPr lang="fr-FR" dirty="0" smtClean="0"/>
              <a:t>;</a:t>
            </a:r>
            <a:endParaRPr lang="fr-FR" dirty="0"/>
          </a:p>
          <a:p>
            <a:pPr lvl="0"/>
            <a:r>
              <a:rPr lang="fr-FR" dirty="0"/>
              <a:t>Les chéquiers et les espèces sont conservés respectivement par le trésorier et le caissier dans une boite métallique ignifuge fermant à clé dont ils sont les détenteurs exclusifs.</a:t>
            </a:r>
          </a:p>
          <a:p>
            <a:pPr marL="0" indent="0">
              <a:buNone/>
            </a:pPr>
            <a:endParaRPr lang="fr-FR" dirty="0"/>
          </a:p>
          <a:p>
            <a:endParaRPr lang="fr-FR" dirty="0"/>
          </a:p>
        </p:txBody>
      </p:sp>
    </p:spTree>
    <p:extLst>
      <p:ext uri="{BB962C8B-B14F-4D97-AF65-F5344CB8AC3E}">
        <p14:creationId xmlns:p14="http://schemas.microsoft.com/office/powerpoint/2010/main" val="25672869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85531" y="0"/>
            <a:ext cx="9652000" cy="740134"/>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 y="827792"/>
            <a:ext cx="10906539" cy="6030207"/>
          </a:xfrm>
        </p:spPr>
        <p:txBody>
          <a:bodyPr>
            <a:noAutofit/>
          </a:bodyPr>
          <a:lstStyle/>
          <a:p>
            <a:pPr marL="0" indent="0" algn="ctr">
              <a:buNone/>
            </a:pPr>
            <a:r>
              <a:rPr lang="fr-FR" sz="3600" b="1" u="sng" dirty="0"/>
              <a:t>LE BROUILLARD DE </a:t>
            </a:r>
            <a:r>
              <a:rPr lang="fr-FR" sz="3600" b="1" u="sng" dirty="0" smtClean="0"/>
              <a:t>CAISSE</a:t>
            </a:r>
            <a:endParaRPr lang="fr-FR" sz="3600" dirty="0"/>
          </a:p>
          <a:p>
            <a:pPr marL="0" indent="0" algn="just">
              <a:buNone/>
            </a:pPr>
            <a:r>
              <a:rPr lang="fr-FR" sz="4400" dirty="0">
                <a:latin typeface="Times New Roman" panose="02020603050405020304" pitchFamily="18" charset="0"/>
                <a:cs typeface="Times New Roman" panose="02020603050405020304" pitchFamily="18" charset="0"/>
              </a:rPr>
              <a:t>Le brouillard de caisse est un registre dans lequel le Caissier note les encaissements et les décaissements de fonds en espèces au jour le jour et en tire le solde. Il permet à tout moment d'avoir une idée des disponibilités en caisse. Le brouillard de caisse est rempli sur la base d'une pièce de caisse indiquant la nature de l'opération (dépense ou recette).</a:t>
            </a:r>
          </a:p>
          <a:p>
            <a:endParaRPr lang="fr-FR" sz="3600" dirty="0"/>
          </a:p>
        </p:txBody>
      </p:sp>
    </p:spTree>
    <p:extLst>
      <p:ext uri="{BB962C8B-B14F-4D97-AF65-F5344CB8AC3E}">
        <p14:creationId xmlns:p14="http://schemas.microsoft.com/office/powerpoint/2010/main" val="4917770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72279" y="0"/>
            <a:ext cx="9652000" cy="660621"/>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 y="774528"/>
            <a:ext cx="10880035" cy="6083471"/>
          </a:xfrm>
        </p:spPr>
        <p:txBody>
          <a:bodyPr>
            <a:normAutofit lnSpcReduction="10000"/>
          </a:bodyPr>
          <a:lstStyle/>
          <a:p>
            <a:pPr algn="ctr"/>
            <a:r>
              <a:rPr lang="fr-FR" dirty="0" smtClean="0"/>
              <a:t>La tenue de la comptabilité de caisse</a:t>
            </a:r>
          </a:p>
          <a:p>
            <a:r>
              <a:rPr lang="fr-FR" dirty="0"/>
              <a:t>La comptabilité du CGE est une comptabilité simplifiée du type « Recettes, Dépenses ». Elle est axée sur les mouvements de trésorerie de la caisse et du compte bancaire et repose essentiellement sur le brouillard de caisse et le journal de banque </a:t>
            </a:r>
            <a:r>
              <a:rPr lang="fr-FR" dirty="0" smtClean="0"/>
              <a:t>;</a:t>
            </a:r>
            <a:endParaRPr lang="fr-FR" dirty="0"/>
          </a:p>
          <a:p>
            <a:r>
              <a:rPr lang="fr-FR" dirty="0"/>
              <a:t>Les opérations sont enregistrées au jour le jour dans ces journaux et les pièces justificatives classées de façon chronologique après identification par un numéro séquentiel précédé de la lettre « R » pour les recettes et de la lettre « D » pour les dépenses</a:t>
            </a:r>
            <a:r>
              <a:rPr lang="fr-FR" dirty="0" smtClean="0"/>
              <a:t>.</a:t>
            </a:r>
            <a:endParaRPr lang="fr-FR" dirty="0"/>
          </a:p>
          <a:p>
            <a:r>
              <a:rPr lang="fr-FR" dirty="0"/>
              <a:t>La comptabilité des opérations financières est une </a:t>
            </a:r>
            <a:r>
              <a:rPr lang="fr-FR" dirty="0" smtClean="0"/>
              <a:t>:</a:t>
            </a:r>
            <a:endParaRPr lang="fr-FR" dirty="0"/>
          </a:p>
          <a:p>
            <a:r>
              <a:rPr lang="fr-FR" b="1" i="1" dirty="0"/>
              <a:t>a) comptabilité de trésorerie</a:t>
            </a:r>
            <a:r>
              <a:rPr lang="fr-FR" dirty="0"/>
              <a:t> : seuls les mouvements de fonds sont enregistrés en recettes ou dépenses. Les engagements ne sont pas comptabilisés.</a:t>
            </a:r>
          </a:p>
          <a:p>
            <a:r>
              <a:rPr lang="fr-FR" b="1" i="1" dirty="0"/>
              <a:t>b) comptabilité tenue par le Trésorier</a:t>
            </a:r>
            <a:r>
              <a:rPr lang="fr-FR" dirty="0"/>
              <a:t> ou,  sous sa responsabilité, par un membre ayant des compétences en comptabilité.</a:t>
            </a:r>
          </a:p>
          <a:p>
            <a:endParaRPr lang="fr-FR" dirty="0"/>
          </a:p>
        </p:txBody>
      </p:sp>
    </p:spTree>
    <p:extLst>
      <p:ext uri="{BB962C8B-B14F-4D97-AF65-F5344CB8AC3E}">
        <p14:creationId xmlns:p14="http://schemas.microsoft.com/office/powerpoint/2010/main" val="32866577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2035" y="0"/>
            <a:ext cx="9652000" cy="687125"/>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92765" y="801032"/>
            <a:ext cx="10800522" cy="6056967"/>
          </a:xfrm>
        </p:spPr>
        <p:txBody>
          <a:bodyPr>
            <a:noAutofit/>
          </a:bodyPr>
          <a:lstStyle/>
          <a:p>
            <a:pPr marL="0" indent="0" algn="ctr">
              <a:buNone/>
            </a:pPr>
            <a:r>
              <a:rPr lang="fr-FR" sz="3500" dirty="0" smtClean="0"/>
              <a:t>La tenue de la comptabilité de caisse</a:t>
            </a:r>
          </a:p>
          <a:p>
            <a:r>
              <a:rPr lang="fr-FR" sz="3500" dirty="0"/>
              <a:t>Toutes les opérations doivent être dûment justifiées (facture, reçu de paiement, bon de livraison, contrat, bon de commande, etc.). Les pièces justificatives sont conservées au moins pendant dix (10) ans et présentées à toute réquisition des organes de contrôle et de suivi de l’Etat et des </a:t>
            </a:r>
            <a:r>
              <a:rPr lang="fr-FR" sz="3500" dirty="0" smtClean="0"/>
              <a:t>PTF.</a:t>
            </a:r>
          </a:p>
          <a:p>
            <a:r>
              <a:rPr lang="fr-FR" sz="3500" dirty="0" smtClean="0"/>
              <a:t>Les </a:t>
            </a:r>
            <a:r>
              <a:rPr lang="fr-FR" sz="3500" dirty="0"/>
              <a:t>membres du bureau ont un droit de regard sur la gestion, ils peuvent à tout moment consulter la comptabilité sur place. </a:t>
            </a:r>
          </a:p>
          <a:p>
            <a:pPr marL="0" indent="0">
              <a:buNone/>
            </a:pPr>
            <a:r>
              <a:rPr lang="fr-FR" sz="3500" dirty="0"/>
              <a:t> </a:t>
            </a:r>
          </a:p>
          <a:p>
            <a:endParaRPr lang="fr-FR" sz="3500" dirty="0"/>
          </a:p>
          <a:p>
            <a:endParaRPr lang="fr-FR" sz="3500" dirty="0"/>
          </a:p>
        </p:txBody>
      </p:sp>
    </p:spTree>
    <p:extLst>
      <p:ext uri="{BB962C8B-B14F-4D97-AF65-F5344CB8AC3E}">
        <p14:creationId xmlns:p14="http://schemas.microsoft.com/office/powerpoint/2010/main" val="25866412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4130" y="290652"/>
            <a:ext cx="10515600" cy="411714"/>
          </a:xfrm>
        </p:spPr>
        <p:txBody>
          <a:bodyPr>
            <a:noAutofit/>
          </a:bodyPr>
          <a:lstStyle/>
          <a:p>
            <a:r>
              <a:rPr lang="fr-FR" sz="4400" b="1" dirty="0" smtClean="0"/>
              <a:t> </a:t>
            </a:r>
            <a:br>
              <a:rPr lang="fr-FR" sz="4400" b="1" dirty="0" smtClean="0"/>
            </a:br>
            <a:r>
              <a:rPr lang="fr-FR" sz="4400" b="1" u="sng" dirty="0" smtClean="0"/>
              <a:t>LE </a:t>
            </a:r>
            <a:r>
              <a:rPr lang="fr-FR" sz="4400" b="1" u="sng" dirty="0"/>
              <a:t>CONTROLE (INTERNE ET EXTERNE</a:t>
            </a:r>
            <a:r>
              <a:rPr lang="fr-FR" sz="4400" b="1" u="sng" dirty="0" smtClean="0"/>
              <a:t>)</a:t>
            </a:r>
            <a:endParaRPr lang="fr-FR" sz="4400" dirty="0"/>
          </a:p>
        </p:txBody>
      </p:sp>
      <p:sp>
        <p:nvSpPr>
          <p:cNvPr id="3" name="Espace réservé du contenu 2"/>
          <p:cNvSpPr>
            <a:spLocks noGrp="1"/>
          </p:cNvSpPr>
          <p:nvPr>
            <p:ph idx="1"/>
          </p:nvPr>
        </p:nvSpPr>
        <p:spPr>
          <a:xfrm>
            <a:off x="172277" y="1005840"/>
            <a:ext cx="10601739" cy="5673256"/>
          </a:xfrm>
        </p:spPr>
        <p:txBody>
          <a:bodyPr>
            <a:noAutofit/>
          </a:bodyPr>
          <a:lstStyle/>
          <a:p>
            <a:r>
              <a:rPr lang="fr-FR" sz="4000" b="1" dirty="0"/>
              <a:t>1 </a:t>
            </a:r>
            <a:r>
              <a:rPr lang="fr-FR" sz="4000" b="1" u="sng" dirty="0"/>
              <a:t>LE CONTROLE </a:t>
            </a:r>
            <a:r>
              <a:rPr lang="fr-FR" sz="4000" b="1" u="sng" dirty="0" smtClean="0"/>
              <a:t>INTERNE</a:t>
            </a:r>
          </a:p>
          <a:p>
            <a:r>
              <a:rPr lang="fr-FR" sz="4000" b="1" u="sng" dirty="0" smtClean="0"/>
              <a:t>AU </a:t>
            </a:r>
            <a:r>
              <a:rPr lang="fr-FR" sz="4000" b="1" u="sng" dirty="0"/>
              <a:t>NIVEAU DU BUDGET </a:t>
            </a:r>
            <a:endParaRPr lang="fr-FR" sz="4000" b="1" u="sng" dirty="0" smtClean="0"/>
          </a:p>
          <a:p>
            <a:r>
              <a:rPr lang="fr-FR" sz="4000" b="1" dirty="0" smtClean="0"/>
              <a:t>AU </a:t>
            </a:r>
            <a:r>
              <a:rPr lang="fr-FR" sz="4000" b="1" dirty="0"/>
              <a:t>NIVEAU DES ACHATS </a:t>
            </a:r>
            <a:endParaRPr lang="fr-FR" sz="4000" b="1" dirty="0" smtClean="0"/>
          </a:p>
          <a:p>
            <a:r>
              <a:rPr lang="fr-FR" sz="4000" b="1" dirty="0" smtClean="0"/>
              <a:t>AU </a:t>
            </a:r>
            <a:r>
              <a:rPr lang="fr-FR" sz="4000" b="1" dirty="0"/>
              <a:t>NIVEAU DES IMMOBILISATIONS ET </a:t>
            </a:r>
            <a:r>
              <a:rPr lang="fr-FR" sz="4000" b="1" dirty="0" smtClean="0"/>
              <a:t>STOCKS</a:t>
            </a:r>
            <a:r>
              <a:rPr lang="fr-FR" sz="4000" dirty="0"/>
              <a:t> </a:t>
            </a:r>
          </a:p>
          <a:p>
            <a:r>
              <a:rPr lang="fr-FR" sz="4000" b="1" dirty="0"/>
              <a:t>AU NIVEAU DE LA </a:t>
            </a:r>
            <a:r>
              <a:rPr lang="fr-FR" sz="4000" b="1" dirty="0" smtClean="0"/>
              <a:t>CAISSE</a:t>
            </a:r>
          </a:p>
          <a:p>
            <a:r>
              <a:rPr lang="fr-FR" sz="4000" b="1" dirty="0" smtClean="0"/>
              <a:t>LES </a:t>
            </a:r>
            <a:r>
              <a:rPr lang="fr-FR" sz="4000" b="1" dirty="0"/>
              <a:t>RAPPROCHEMENTS </a:t>
            </a:r>
            <a:r>
              <a:rPr lang="fr-FR" sz="4000" b="1" dirty="0" smtClean="0"/>
              <a:t>BANCAIRES</a:t>
            </a:r>
          </a:p>
          <a:p>
            <a:r>
              <a:rPr lang="fr-FR" sz="4000" b="1" dirty="0" smtClean="0"/>
              <a:t>2 </a:t>
            </a:r>
            <a:r>
              <a:rPr lang="fr-FR" sz="4000" b="1" u="sng" dirty="0" smtClean="0"/>
              <a:t>LE </a:t>
            </a:r>
            <a:r>
              <a:rPr lang="fr-FR" sz="4000" b="1" u="sng" dirty="0"/>
              <a:t>CONTROLE EXTERNE</a:t>
            </a:r>
            <a:endParaRPr lang="fr-FR" sz="4000" dirty="0"/>
          </a:p>
          <a:p>
            <a:pPr marL="0" indent="0">
              <a:buNone/>
            </a:pPr>
            <a:endParaRPr lang="fr-FR" sz="4000" dirty="0"/>
          </a:p>
          <a:p>
            <a:pPr marL="0" indent="0">
              <a:buNone/>
            </a:pPr>
            <a:endParaRPr lang="fr-FR" sz="4000" dirty="0"/>
          </a:p>
          <a:p>
            <a:endParaRPr lang="fr-FR" sz="4000" dirty="0"/>
          </a:p>
          <a:p>
            <a:endParaRPr lang="fr-FR" sz="4000" dirty="0"/>
          </a:p>
          <a:p>
            <a:endParaRPr lang="fr-FR" sz="4000" b="1" u="sng" dirty="0" smtClean="0"/>
          </a:p>
          <a:p>
            <a:pPr marL="0" indent="0">
              <a:buNone/>
            </a:pPr>
            <a:endParaRPr lang="fr-FR" sz="4000" dirty="0"/>
          </a:p>
        </p:txBody>
      </p:sp>
    </p:spTree>
    <p:extLst>
      <p:ext uri="{BB962C8B-B14F-4D97-AF65-F5344CB8AC3E}">
        <p14:creationId xmlns:p14="http://schemas.microsoft.com/office/powerpoint/2010/main" val="9541551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78296" y="0"/>
            <a:ext cx="9652000" cy="793143"/>
          </a:xfrm>
        </p:spPr>
        <p:txBody>
          <a:bodyPr>
            <a:normAutofit fontScale="90000"/>
          </a:bodyPr>
          <a:lstStyle/>
          <a:p>
            <a:r>
              <a:rPr lang="fr-FR" b="1" dirty="0" smtClean="0"/>
              <a:t> </a:t>
            </a:r>
            <a:br>
              <a:rPr lang="fr-FR" b="1" dirty="0" smtClean="0"/>
            </a:br>
            <a:r>
              <a:rPr lang="fr-FR" b="1" u="sng" dirty="0" smtClean="0"/>
              <a:t>LE </a:t>
            </a:r>
            <a:r>
              <a:rPr lang="fr-FR" b="1" u="sng" dirty="0"/>
              <a:t>CONTROLE (INTERNE ET EXTERNE</a:t>
            </a:r>
            <a:r>
              <a:rPr lang="fr-FR" b="1" u="sng" dirty="0" smtClean="0"/>
              <a:t>)</a:t>
            </a:r>
            <a:endParaRPr lang="fr-FR" dirty="0"/>
          </a:p>
        </p:txBody>
      </p:sp>
      <p:sp>
        <p:nvSpPr>
          <p:cNvPr id="3" name="Espace réservé du contenu 2"/>
          <p:cNvSpPr>
            <a:spLocks noGrp="1"/>
          </p:cNvSpPr>
          <p:nvPr>
            <p:ph idx="1"/>
          </p:nvPr>
        </p:nvSpPr>
        <p:spPr>
          <a:xfrm>
            <a:off x="53010" y="867294"/>
            <a:ext cx="11025808" cy="5990706"/>
          </a:xfrm>
        </p:spPr>
        <p:txBody>
          <a:bodyPr>
            <a:noAutofit/>
          </a:bodyPr>
          <a:lstStyle/>
          <a:p>
            <a:r>
              <a:rPr lang="fr-FR" sz="2800" dirty="0" smtClean="0"/>
              <a:t>LE CONTRÔLE INTERNE</a:t>
            </a:r>
          </a:p>
          <a:p>
            <a:pPr marL="0" indent="0">
              <a:buNone/>
            </a:pPr>
            <a:r>
              <a:rPr lang="fr-FR" sz="2800" dirty="0" smtClean="0"/>
              <a:t>Les </a:t>
            </a:r>
            <a:r>
              <a:rPr lang="fr-FR" sz="2800" dirty="0"/>
              <a:t>opérations matérielles et financières  du PE sont soumises à un contrôle interne permanent exercé par le CGE </a:t>
            </a:r>
            <a:endParaRPr lang="fr-FR" sz="2800" dirty="0" smtClean="0"/>
          </a:p>
          <a:p>
            <a:r>
              <a:rPr lang="fr-FR" sz="2800" b="1" dirty="0"/>
              <a:t>1 </a:t>
            </a:r>
            <a:r>
              <a:rPr lang="fr-FR" sz="2800" b="1" u="sng" dirty="0"/>
              <a:t>LE CONTROLE INTERNE</a:t>
            </a:r>
            <a:endParaRPr lang="fr-FR" sz="2800" dirty="0"/>
          </a:p>
          <a:p>
            <a:pPr marL="0" indent="0">
              <a:buNone/>
            </a:pPr>
            <a:r>
              <a:rPr lang="fr-FR" sz="2800" dirty="0"/>
              <a:t>Le contrôle interne est défini comme un dispositif mis en place à l’intérieur du CGE pour s’assurer </a:t>
            </a:r>
            <a:r>
              <a:rPr lang="fr-FR" sz="2800" dirty="0" smtClean="0"/>
              <a:t>:</a:t>
            </a:r>
            <a:endParaRPr lang="fr-FR" sz="2800" dirty="0"/>
          </a:p>
          <a:p>
            <a:pPr lvl="0"/>
            <a:r>
              <a:rPr lang="fr-FR" sz="2800" dirty="0"/>
              <a:t>de la sauvegarde et de la sécurité du patrimoine et des transactions ;</a:t>
            </a:r>
          </a:p>
          <a:p>
            <a:pPr lvl="0"/>
            <a:r>
              <a:rPr lang="fr-FR" sz="2800" dirty="0"/>
              <a:t>de la fiabilité et de la qualité du système d’information ;</a:t>
            </a:r>
          </a:p>
          <a:p>
            <a:pPr lvl="0"/>
            <a:r>
              <a:rPr lang="fr-FR" sz="2800" dirty="0"/>
              <a:t>du respect des lois et règlements (décrets et arrêtés) et des directives du ministère de tutelle (MEN) via la DAGE ;</a:t>
            </a:r>
          </a:p>
          <a:p>
            <a:pPr lvl="0"/>
            <a:r>
              <a:rPr lang="fr-FR" sz="2800" dirty="0"/>
              <a:t>de l’amélioration constante des performances</a:t>
            </a:r>
            <a:r>
              <a:rPr lang="fr-FR" sz="2800" dirty="0" smtClean="0"/>
              <a:t>.</a:t>
            </a:r>
            <a:endParaRPr lang="fr-FR" sz="2800" dirty="0"/>
          </a:p>
        </p:txBody>
      </p:sp>
    </p:spTree>
    <p:extLst>
      <p:ext uri="{BB962C8B-B14F-4D97-AF65-F5344CB8AC3E}">
        <p14:creationId xmlns:p14="http://schemas.microsoft.com/office/powerpoint/2010/main" val="8504884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45773" y="0"/>
            <a:ext cx="10561983" cy="753386"/>
          </a:xfrm>
        </p:spPr>
        <p:txBody>
          <a:bodyPr>
            <a:noAutofit/>
          </a:bodyPr>
          <a:lstStyle/>
          <a:p>
            <a:r>
              <a:rPr lang="fr-FR" sz="4400" b="1" dirty="0" smtClean="0"/>
              <a:t> </a:t>
            </a:r>
            <a:br>
              <a:rPr lang="fr-FR" sz="4400" b="1" dirty="0" smtClean="0"/>
            </a:br>
            <a:r>
              <a:rPr lang="fr-FR" sz="4400" b="1" u="sng" dirty="0" smtClean="0"/>
              <a:t>LE </a:t>
            </a:r>
            <a:r>
              <a:rPr lang="fr-FR" sz="4400" b="1" u="sng" dirty="0"/>
              <a:t>CONTROLE (INTERNE ET EXTERNE</a:t>
            </a:r>
            <a:r>
              <a:rPr lang="fr-FR" sz="4400" b="1" u="sng" dirty="0" smtClean="0"/>
              <a:t>)</a:t>
            </a:r>
            <a:endParaRPr lang="fr-FR" sz="4400" dirty="0"/>
          </a:p>
        </p:txBody>
      </p:sp>
      <p:sp>
        <p:nvSpPr>
          <p:cNvPr id="3" name="Espace réservé du contenu 2"/>
          <p:cNvSpPr>
            <a:spLocks noGrp="1"/>
          </p:cNvSpPr>
          <p:nvPr>
            <p:ph idx="1"/>
          </p:nvPr>
        </p:nvSpPr>
        <p:spPr>
          <a:xfrm>
            <a:off x="-1" y="827538"/>
            <a:ext cx="10880035" cy="6030462"/>
          </a:xfrm>
        </p:spPr>
        <p:txBody>
          <a:bodyPr>
            <a:normAutofit/>
          </a:bodyPr>
          <a:lstStyle/>
          <a:p>
            <a:pPr marL="0" indent="0">
              <a:buNone/>
            </a:pPr>
            <a:r>
              <a:rPr lang="fr-FR" sz="4000" dirty="0" smtClean="0"/>
              <a:t>LE CONTRÔLE INTERNE</a:t>
            </a:r>
          </a:p>
          <a:p>
            <a:pPr lvl="0">
              <a:buNone/>
            </a:pPr>
            <a:r>
              <a:rPr lang="fr-FR" sz="4000" dirty="0" smtClean="0"/>
              <a:t>Il consiste en la mise en place de procédures qui se caractérisent par :</a:t>
            </a:r>
          </a:p>
          <a:p>
            <a:pPr lvl="0"/>
            <a:r>
              <a:rPr lang="fr-FR" sz="4000" dirty="0" smtClean="0"/>
              <a:t>l’auto contrôle dans l’exécution des tâches,</a:t>
            </a:r>
          </a:p>
          <a:p>
            <a:pPr lvl="0"/>
            <a:r>
              <a:rPr lang="fr-FR" sz="4000" dirty="0" smtClean="0"/>
              <a:t>le contrôle hiérarchique des opérations,</a:t>
            </a:r>
          </a:p>
          <a:p>
            <a:pPr lvl="0"/>
            <a:r>
              <a:rPr lang="fr-FR" sz="4000" dirty="0" smtClean="0"/>
              <a:t>le contrôle croisé entre les parties prenantes d’une opération,</a:t>
            </a:r>
          </a:p>
          <a:p>
            <a:pPr lvl="0"/>
            <a:r>
              <a:rPr lang="fr-FR" sz="4000" dirty="0" smtClean="0"/>
              <a:t>et la vérification transversale des opérations effectuées à posteriori.</a:t>
            </a:r>
          </a:p>
          <a:p>
            <a:pPr marL="0" indent="0">
              <a:buNone/>
            </a:pPr>
            <a:endParaRPr lang="fr-FR" sz="4000" dirty="0" smtClean="0"/>
          </a:p>
          <a:p>
            <a:endParaRPr lang="fr-FR" sz="4000" dirty="0"/>
          </a:p>
        </p:txBody>
      </p:sp>
    </p:spTree>
    <p:extLst>
      <p:ext uri="{BB962C8B-B14F-4D97-AF65-F5344CB8AC3E}">
        <p14:creationId xmlns:p14="http://schemas.microsoft.com/office/powerpoint/2010/main" val="21192483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12032" y="108005"/>
            <a:ext cx="11012557" cy="899160"/>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1" y="1105834"/>
            <a:ext cx="10880035" cy="5752166"/>
          </a:xfrm>
        </p:spPr>
        <p:txBody>
          <a:bodyPr>
            <a:noAutofit/>
          </a:bodyPr>
          <a:lstStyle/>
          <a:p>
            <a:r>
              <a:rPr lang="fr-FR" sz="3200" dirty="0"/>
              <a:t>Toutes les opérations financières de l’organisation sont soumises à approbation avant d'être effectuées. Le comité exécutif doit s'assurer de la pertinence de l'opération, de sa faisabilité et de sa rationalité. Dans les cas où ses conditions ne sont pas réunies, il doit surseoir à la décision d’approbation</a:t>
            </a:r>
            <a:r>
              <a:rPr lang="fr-FR" sz="3200" dirty="0" smtClean="0"/>
              <a:t>.</a:t>
            </a:r>
            <a:r>
              <a:rPr lang="fr-FR" sz="3200" dirty="0"/>
              <a:t> </a:t>
            </a:r>
          </a:p>
          <a:p>
            <a:r>
              <a:rPr lang="fr-FR" sz="3200" dirty="0"/>
              <a:t>Le contrôle des opérations est fait au premier niveau par le Bureau Exécutif du CGE</a:t>
            </a:r>
            <a:r>
              <a:rPr lang="fr-FR" sz="3200" dirty="0" smtClean="0"/>
              <a:t>.</a:t>
            </a:r>
            <a:endParaRPr lang="fr-FR" sz="3200" dirty="0"/>
          </a:p>
          <a:p>
            <a:r>
              <a:rPr lang="fr-FR" sz="3200" dirty="0"/>
              <a:t>Le cumul de fonctions doit être évité. Il s'agit des fonctions de décision, d'exécution, de protection, d'enregistrement et de contrôle.</a:t>
            </a:r>
          </a:p>
          <a:p>
            <a:endParaRPr lang="fr-FR" sz="3200" dirty="0"/>
          </a:p>
        </p:txBody>
      </p:sp>
    </p:spTree>
    <p:extLst>
      <p:ext uri="{BB962C8B-B14F-4D97-AF65-F5344CB8AC3E}">
        <p14:creationId xmlns:p14="http://schemas.microsoft.com/office/powerpoint/2010/main" val="3050736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12034" y="134510"/>
            <a:ext cx="10840278" cy="753386"/>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92764" y="1005840"/>
            <a:ext cx="10734261" cy="5852160"/>
          </a:xfrm>
        </p:spPr>
        <p:txBody>
          <a:bodyPr>
            <a:noAutofit/>
          </a:bodyPr>
          <a:lstStyle/>
          <a:p>
            <a:pPr marL="0" indent="0">
              <a:buNone/>
            </a:pPr>
            <a:r>
              <a:rPr lang="fr-FR" sz="3700" dirty="0"/>
              <a:t>Plusieurs procédés sont mis en œuvre pour assurer un contrôle interne efficace  dans la gestion des CGE </a:t>
            </a:r>
            <a:r>
              <a:rPr lang="fr-FR" sz="3700" dirty="0" smtClean="0"/>
              <a:t>:</a:t>
            </a:r>
            <a:endParaRPr lang="fr-FR" sz="3700" dirty="0"/>
          </a:p>
          <a:p>
            <a:r>
              <a:rPr lang="fr-FR" sz="3700" dirty="0"/>
              <a:t>- deux (2) signatures conjointes sur le compte ;</a:t>
            </a:r>
          </a:p>
          <a:p>
            <a:r>
              <a:rPr lang="fr-FR" sz="3700" dirty="0"/>
              <a:t>- mise en place de commissions (achats, réceptions, etc.) </a:t>
            </a:r>
          </a:p>
          <a:p>
            <a:r>
              <a:rPr lang="fr-FR" sz="3700" dirty="0"/>
              <a:t>- nomination de Commissaires aux comptes ;</a:t>
            </a:r>
          </a:p>
          <a:p>
            <a:r>
              <a:rPr lang="fr-FR" sz="3700" dirty="0"/>
              <a:t>- présentation par le bureau du </a:t>
            </a:r>
            <a:r>
              <a:rPr lang="fr-FR" sz="3700" dirty="0" smtClean="0"/>
              <a:t>CGE</a:t>
            </a:r>
            <a:r>
              <a:rPr lang="fr-CA" sz="3700" dirty="0"/>
              <a:t> </a:t>
            </a:r>
            <a:r>
              <a:rPr lang="fr-FR" sz="3700" dirty="0" smtClean="0"/>
              <a:t>d’un </a:t>
            </a:r>
            <a:r>
              <a:rPr lang="fr-FR" sz="3700" dirty="0"/>
              <a:t>rapport d’exécution chaque trimestre. </a:t>
            </a:r>
          </a:p>
          <a:p>
            <a:pPr marL="0" indent="0">
              <a:buNone/>
            </a:pPr>
            <a:endParaRPr lang="fr-FR" sz="3700" dirty="0"/>
          </a:p>
          <a:p>
            <a:endParaRPr lang="fr-FR" sz="3700" dirty="0"/>
          </a:p>
        </p:txBody>
      </p:sp>
    </p:spTree>
    <p:extLst>
      <p:ext uri="{BB962C8B-B14F-4D97-AF65-F5344CB8AC3E}">
        <p14:creationId xmlns:p14="http://schemas.microsoft.com/office/powerpoint/2010/main" val="5430216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06017" y="187518"/>
            <a:ext cx="11317356" cy="567856"/>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0" y="846814"/>
            <a:ext cx="11184835" cy="6011186"/>
          </a:xfrm>
        </p:spPr>
        <p:txBody>
          <a:bodyPr>
            <a:noAutofit/>
          </a:bodyPr>
          <a:lstStyle/>
          <a:p>
            <a:pPr marL="0" indent="0">
              <a:buNone/>
            </a:pPr>
            <a:r>
              <a:rPr lang="fr-FR" sz="2000" b="1" u="sng" dirty="0"/>
              <a:t>AU NIVEAU DU BUDGET </a:t>
            </a:r>
            <a:r>
              <a:rPr lang="fr-FR" sz="2000" dirty="0"/>
              <a:t> </a:t>
            </a:r>
          </a:p>
          <a:p>
            <a:pPr>
              <a:buNone/>
            </a:pPr>
            <a:r>
              <a:rPr lang="fr-FR" sz="2100" dirty="0"/>
              <a:t>Les contrôles ont pour objet à ce niveau de vérifier si les procédures sont correctement appliquées </a:t>
            </a:r>
            <a:r>
              <a:rPr lang="fr-FR" sz="2100" dirty="0" smtClean="0"/>
              <a:t>:</a:t>
            </a:r>
            <a:endParaRPr lang="fr-FR" sz="2100" dirty="0"/>
          </a:p>
          <a:p>
            <a:pPr lvl="0"/>
            <a:r>
              <a:rPr lang="fr-FR" sz="2100" dirty="0"/>
              <a:t>Le respect des délais primordial pour l’approbation du Budget est vérifié à chaque niveau                                  </a:t>
            </a:r>
          </a:p>
          <a:p>
            <a:pPr lvl="0"/>
            <a:r>
              <a:rPr lang="fr-FR" sz="2100" dirty="0"/>
              <a:t>L’inscription des disponibilités  budgétaires sur tous les documents d’engagement du budget ;</a:t>
            </a:r>
          </a:p>
          <a:p>
            <a:pPr lvl="0"/>
            <a:r>
              <a:rPr lang="fr-FR" sz="2100" dirty="0"/>
              <a:t>Le suivi au quotidien de ces disponibilités pour une situation en temps réel ; </a:t>
            </a:r>
          </a:p>
          <a:p>
            <a:pPr lvl="0"/>
            <a:r>
              <a:rPr lang="fr-FR" sz="2100" dirty="0"/>
              <a:t>Les activités devant faire l’objet de report de crédit ;</a:t>
            </a:r>
          </a:p>
          <a:p>
            <a:pPr lvl="0"/>
            <a:r>
              <a:rPr lang="fr-FR" sz="2100" dirty="0"/>
              <a:t>Les activités devant faire l’objet de remaniement budgétaire. </a:t>
            </a:r>
          </a:p>
          <a:p>
            <a:r>
              <a:rPr lang="fr-FR" sz="2100" dirty="0"/>
              <a:t>Le comité de gestion de l’école doit observer une indépendance totale vis-à-vis des agents contrôlés. </a:t>
            </a:r>
          </a:p>
          <a:p>
            <a:pPr lvl="0"/>
            <a:r>
              <a:rPr lang="fr-FR" sz="2100" dirty="0"/>
              <a:t>Les constats doivent être appuyés par des arguments objectifs et étayés par des pièces ;</a:t>
            </a:r>
          </a:p>
          <a:p>
            <a:pPr lvl="0"/>
            <a:r>
              <a:rPr lang="fr-FR" sz="2100" dirty="0"/>
              <a:t>Les contrôles relatifs à la préparation du Budget sont annuels ;</a:t>
            </a:r>
          </a:p>
          <a:p>
            <a:pPr lvl="0"/>
            <a:r>
              <a:rPr lang="fr-FR" sz="2100" dirty="0" smtClean="0"/>
              <a:t>des </a:t>
            </a:r>
            <a:r>
              <a:rPr lang="fr-FR" sz="2100" dirty="0"/>
              <a:t>missions ponctuelles de suivi de l’exécution budgétaire peuvent avoir lieu à tout moment.</a:t>
            </a:r>
          </a:p>
          <a:p>
            <a:pPr marL="0" indent="0">
              <a:buNone/>
            </a:pPr>
            <a:endParaRPr lang="fr-FR" sz="2000" dirty="0"/>
          </a:p>
          <a:p>
            <a:endParaRPr lang="fr-FR" sz="2000" dirty="0"/>
          </a:p>
        </p:txBody>
      </p:sp>
    </p:spTree>
    <p:extLst>
      <p:ext uri="{BB962C8B-B14F-4D97-AF65-F5344CB8AC3E}">
        <p14:creationId xmlns:p14="http://schemas.microsoft.com/office/powerpoint/2010/main" val="30073684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45774" y="0"/>
            <a:ext cx="11317356" cy="940904"/>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0" y="1005840"/>
            <a:ext cx="10827026" cy="5852160"/>
          </a:xfrm>
        </p:spPr>
        <p:txBody>
          <a:bodyPr>
            <a:noAutofit/>
          </a:bodyPr>
          <a:lstStyle/>
          <a:p>
            <a:pPr marL="0" indent="0">
              <a:buNone/>
            </a:pPr>
            <a:r>
              <a:rPr lang="fr-FR" sz="2900" b="1" u="sng" dirty="0" smtClean="0"/>
              <a:t>AU NIVEAU DU BUDGET</a:t>
            </a:r>
            <a:endParaRPr lang="fr-FR" sz="2900" dirty="0" smtClean="0"/>
          </a:p>
          <a:p>
            <a:pPr marL="0" indent="0">
              <a:buNone/>
            </a:pPr>
            <a:r>
              <a:rPr lang="fr-FR" sz="2900" dirty="0" smtClean="0"/>
              <a:t>Le </a:t>
            </a:r>
            <a:r>
              <a:rPr lang="fr-FR" sz="2900" dirty="0"/>
              <a:t>budget du CGE est basé sur les principes suivants </a:t>
            </a:r>
            <a:r>
              <a:rPr lang="fr-FR" sz="2900" dirty="0" smtClean="0"/>
              <a:t>:</a:t>
            </a:r>
            <a:endParaRPr lang="fr-FR" sz="2900" dirty="0"/>
          </a:p>
          <a:p>
            <a:pPr lvl="0"/>
            <a:r>
              <a:rPr lang="fr-FR" sz="2900" dirty="0"/>
              <a:t>Le  budget doit résulter du PAV et prévoir toutes les activités de l’année ;</a:t>
            </a:r>
          </a:p>
          <a:p>
            <a:pPr lvl="0"/>
            <a:r>
              <a:rPr lang="fr-FR" sz="2900" dirty="0"/>
              <a:t>Le PAV  contient toutes les activités propres à régler les problèmes identifiés en début d’année et discutés lors de l’AG ;</a:t>
            </a:r>
          </a:p>
          <a:p>
            <a:pPr lvl="0"/>
            <a:r>
              <a:rPr lang="fr-FR" sz="2900" dirty="0"/>
              <a:t>Les écarts entre les prévisions et les réalisations doivent être analysés tous les trimestres par le Bureau Exécutif ; cette analyse doit figurer dans le rapport du CGE envoyé à l’IA ;</a:t>
            </a:r>
          </a:p>
          <a:p>
            <a:pPr lvl="0"/>
            <a:r>
              <a:rPr lang="fr-FR" sz="2900" dirty="0"/>
              <a:t>Une révision ou un réaménagement budgétaire n’est possible qu’après l’avis de la DAG et du président du CGE.</a:t>
            </a:r>
          </a:p>
          <a:p>
            <a:endParaRPr lang="fr-FR" sz="2900" dirty="0"/>
          </a:p>
        </p:txBody>
      </p:sp>
    </p:spTree>
    <p:extLst>
      <p:ext uri="{BB962C8B-B14F-4D97-AF65-F5344CB8AC3E}">
        <p14:creationId xmlns:p14="http://schemas.microsoft.com/office/powerpoint/2010/main" val="37092386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782" y="134509"/>
            <a:ext cx="11370366" cy="713630"/>
          </a:xfrm>
        </p:spPr>
        <p:txBody>
          <a:bodyPr>
            <a:noAutofit/>
          </a:bodyPr>
          <a:lstStyle/>
          <a:p>
            <a:r>
              <a:rPr lang="fr-FR" sz="4800" b="1" u="sng" dirty="0" smtClean="0"/>
              <a:t>LE CONTROLE (INTERNE ET EXTERNE)</a:t>
            </a:r>
            <a:endParaRPr lang="fr-FR" sz="4800" dirty="0"/>
          </a:p>
        </p:txBody>
      </p:sp>
      <p:sp>
        <p:nvSpPr>
          <p:cNvPr id="3" name="Espace réservé du contenu 2"/>
          <p:cNvSpPr>
            <a:spLocks noGrp="1"/>
          </p:cNvSpPr>
          <p:nvPr>
            <p:ph idx="1"/>
          </p:nvPr>
        </p:nvSpPr>
        <p:spPr>
          <a:xfrm>
            <a:off x="132520" y="966083"/>
            <a:ext cx="10721009" cy="5852161"/>
          </a:xfrm>
        </p:spPr>
        <p:txBody>
          <a:bodyPr>
            <a:noAutofit/>
          </a:bodyPr>
          <a:lstStyle/>
          <a:p>
            <a:pPr>
              <a:buNone/>
            </a:pPr>
            <a:r>
              <a:rPr lang="fr-FR" sz="2700" b="1" dirty="0"/>
              <a:t>AU NIVEAU DES ACHATS </a:t>
            </a:r>
            <a:endParaRPr lang="fr-FR" sz="2700" dirty="0"/>
          </a:p>
          <a:p>
            <a:r>
              <a:rPr lang="fr-FR" sz="2700" dirty="0"/>
              <a:t>Les achats du CGE obéissent aux principes suivants </a:t>
            </a:r>
            <a:r>
              <a:rPr lang="fr-FR" sz="2700" dirty="0" smtClean="0"/>
              <a:t>:</a:t>
            </a:r>
            <a:r>
              <a:rPr lang="fr-FR" sz="2700" dirty="0"/>
              <a:t> </a:t>
            </a:r>
          </a:p>
          <a:p>
            <a:pPr lvl="0"/>
            <a:r>
              <a:rPr lang="fr-FR" sz="2700" dirty="0"/>
              <a:t>Tout achat doit être autorisé par le président du CGE ;</a:t>
            </a:r>
          </a:p>
          <a:p>
            <a:pPr lvl="0"/>
            <a:r>
              <a:rPr lang="fr-FR" sz="2700" dirty="0"/>
              <a:t>Tout achat doit être prévu au budget ;</a:t>
            </a:r>
          </a:p>
          <a:p>
            <a:pPr lvl="0"/>
            <a:r>
              <a:rPr lang="fr-FR" sz="2700" dirty="0"/>
              <a:t>Les achats supérieurs à FCFA 100 000 doivent faire l’objet de DRP ;</a:t>
            </a:r>
          </a:p>
          <a:p>
            <a:pPr lvl="0"/>
            <a:r>
              <a:rPr lang="fr-FR" sz="2700" dirty="0"/>
              <a:t>Il doit exister une identité parfaite (quantité et prix) entre le BC, la Facture du fournisseur et le BR ;</a:t>
            </a:r>
          </a:p>
          <a:p>
            <a:pPr lvl="0"/>
            <a:r>
              <a:rPr lang="fr-FR" sz="2700" dirty="0"/>
              <a:t>Aucune facture ne doit être réglée sans le Bon à Payer du Président du CGE ;</a:t>
            </a:r>
          </a:p>
          <a:p>
            <a:pPr lvl="0"/>
            <a:r>
              <a:rPr lang="fr-FR" sz="2700" dirty="0"/>
              <a:t>Toute réception de marchandise ou de prestation doit être faite de façon contradictoire et collégiale (commission de réception à instaurer).</a:t>
            </a:r>
          </a:p>
          <a:p>
            <a:pPr marL="0" indent="0">
              <a:buNone/>
            </a:pPr>
            <a:endParaRPr lang="fr-FR" sz="2700" dirty="0"/>
          </a:p>
          <a:p>
            <a:endParaRPr lang="fr-FR" sz="2700" dirty="0"/>
          </a:p>
        </p:txBody>
      </p:sp>
    </p:spTree>
    <p:extLst>
      <p:ext uri="{BB962C8B-B14F-4D97-AF65-F5344CB8AC3E}">
        <p14:creationId xmlns:p14="http://schemas.microsoft.com/office/powerpoint/2010/main" val="28204998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5530" y="108006"/>
            <a:ext cx="10919791" cy="753386"/>
          </a:xfrm>
        </p:spPr>
        <p:txBody>
          <a:bodyPr>
            <a:noAutofit/>
          </a:bodyPr>
          <a:lstStyle/>
          <a:p>
            <a:r>
              <a:rPr lang="fr-FR" sz="4400" b="1" u="sng" dirty="0" smtClean="0"/>
              <a:t>LE CONTROLE (INTERNE ET EXTERNE)</a:t>
            </a:r>
            <a:endParaRPr lang="fr-FR" sz="4400" dirty="0"/>
          </a:p>
        </p:txBody>
      </p:sp>
      <p:sp>
        <p:nvSpPr>
          <p:cNvPr id="3" name="Espace réservé du contenu 2"/>
          <p:cNvSpPr>
            <a:spLocks noGrp="1"/>
          </p:cNvSpPr>
          <p:nvPr>
            <p:ph idx="1"/>
          </p:nvPr>
        </p:nvSpPr>
        <p:spPr>
          <a:xfrm>
            <a:off x="119270" y="1005840"/>
            <a:ext cx="10694504" cy="5852160"/>
          </a:xfrm>
        </p:spPr>
        <p:txBody>
          <a:bodyPr>
            <a:normAutofit/>
          </a:bodyPr>
          <a:lstStyle/>
          <a:p>
            <a:pPr>
              <a:buNone/>
            </a:pPr>
            <a:r>
              <a:rPr lang="fr-FR" b="1" dirty="0"/>
              <a:t>AU NIVEAU DES IMMOBILISATIONS ET </a:t>
            </a:r>
            <a:r>
              <a:rPr lang="fr-FR" b="1" dirty="0" smtClean="0"/>
              <a:t>STOCKS</a:t>
            </a:r>
            <a:endParaRPr lang="fr-FR" dirty="0"/>
          </a:p>
          <a:p>
            <a:pPr marL="0" indent="0">
              <a:buNone/>
            </a:pPr>
            <a:r>
              <a:rPr lang="fr-FR" dirty="0"/>
              <a:t>Les immobilisations et les stocks constituent le patrimoine du CGE. Les procédures de gestion de ce patrimoine doivent être rigoureusement suivies</a:t>
            </a:r>
            <a:r>
              <a:rPr lang="fr-FR" dirty="0" smtClean="0"/>
              <a:t>.</a:t>
            </a:r>
            <a:endParaRPr lang="fr-FR" dirty="0"/>
          </a:p>
          <a:p>
            <a:pPr>
              <a:buNone/>
            </a:pPr>
            <a:r>
              <a:rPr lang="fr-FR" dirty="0"/>
              <a:t>Le comité de gestion doit </a:t>
            </a:r>
            <a:r>
              <a:rPr lang="fr-FR" dirty="0" smtClean="0"/>
              <a:t>:</a:t>
            </a:r>
            <a:endParaRPr lang="fr-FR" dirty="0"/>
          </a:p>
          <a:p>
            <a:pPr lvl="0"/>
            <a:r>
              <a:rPr lang="fr-FR" dirty="0"/>
              <a:t>Mettre en en place des fiches détenteurs sur tous les emplacements des immobilisations ;</a:t>
            </a:r>
          </a:p>
          <a:p>
            <a:pPr lvl="0"/>
            <a:r>
              <a:rPr lang="fr-FR" dirty="0"/>
              <a:t>Faire signer les fiches détenteurs par les responsables des immobilisations ;</a:t>
            </a:r>
          </a:p>
          <a:p>
            <a:pPr lvl="0"/>
            <a:r>
              <a:rPr lang="fr-FR" dirty="0"/>
              <a:t>Veiller au respect des normes d’entretien et d’utilisation du matériel ;</a:t>
            </a:r>
          </a:p>
          <a:p>
            <a:pPr lvl="0"/>
            <a:r>
              <a:rPr lang="fr-FR" dirty="0"/>
              <a:t>Procéder à un inventaire annuel des immobilisations et des stocks.</a:t>
            </a:r>
          </a:p>
          <a:p>
            <a:pPr lvl="0"/>
            <a:r>
              <a:rPr lang="fr-FR" dirty="0"/>
              <a:t>Vérifier l'état physique des immobilisations.</a:t>
            </a:r>
          </a:p>
          <a:p>
            <a:pPr marL="0" indent="0">
              <a:buNone/>
            </a:pPr>
            <a:endParaRPr lang="fr-FR" dirty="0"/>
          </a:p>
          <a:p>
            <a:endParaRPr lang="fr-FR" dirty="0"/>
          </a:p>
        </p:txBody>
      </p:sp>
    </p:spTree>
    <p:extLst>
      <p:ext uri="{BB962C8B-B14F-4D97-AF65-F5344CB8AC3E}">
        <p14:creationId xmlns:p14="http://schemas.microsoft.com/office/powerpoint/2010/main" val="36736360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017" y="0"/>
            <a:ext cx="11237844" cy="766638"/>
          </a:xfrm>
        </p:spPr>
        <p:txBody>
          <a:bodyPr>
            <a:noAutofit/>
          </a:bodyPr>
          <a:lstStyle/>
          <a:p>
            <a:r>
              <a:rPr lang="fr-FR" sz="4800" b="1" u="sng" dirty="0" smtClean="0"/>
              <a:t>LE CONTROLE (INTERNE ET EXTERNE)</a:t>
            </a:r>
            <a:endParaRPr lang="fr-FR" sz="4800" dirty="0"/>
          </a:p>
        </p:txBody>
      </p:sp>
      <p:sp>
        <p:nvSpPr>
          <p:cNvPr id="3" name="Espace réservé du contenu 2"/>
          <p:cNvSpPr>
            <a:spLocks noGrp="1"/>
          </p:cNvSpPr>
          <p:nvPr>
            <p:ph idx="1"/>
          </p:nvPr>
        </p:nvSpPr>
        <p:spPr>
          <a:xfrm>
            <a:off x="119269" y="767302"/>
            <a:ext cx="10866783" cy="6037690"/>
          </a:xfrm>
        </p:spPr>
        <p:txBody>
          <a:bodyPr>
            <a:noAutofit/>
          </a:bodyPr>
          <a:lstStyle/>
          <a:p>
            <a:pPr marL="0" indent="0">
              <a:buNone/>
            </a:pPr>
            <a:r>
              <a:rPr lang="fr-FR" sz="2700" b="1" dirty="0"/>
              <a:t>AU NIVEAU DE LA CAISSE</a:t>
            </a:r>
            <a:endParaRPr lang="fr-FR" sz="2700" dirty="0"/>
          </a:p>
          <a:p>
            <a:r>
              <a:rPr lang="fr-FR" sz="2700" dirty="0"/>
              <a:t>Le contrôle de la petite caisse se fait à chaque réapprovisionnement par le Trésorier du CGE, ou de façon inopinée par un membre du BE. </a:t>
            </a:r>
          </a:p>
          <a:p>
            <a:r>
              <a:rPr lang="fr-FR" sz="2700" dirty="0"/>
              <a:t>A chaque contrôle le détenteur de la petite caisse doit mettre à la disposition du contrôleur les pièces justificatives, les bons provisoires, le billetage de la caisse, le brouillard de caisse. </a:t>
            </a:r>
          </a:p>
          <a:p>
            <a:r>
              <a:rPr lang="fr-FR" sz="2700" dirty="0"/>
              <a:t>Après chaque contrôle, les résultats sont portés sur une fiche de contrôle de caisse (voir annexe..), ils concernent l'appréciation du contrôleur sur l'authenticité des pièces justificatives et la situation des valeurs de caisse</a:t>
            </a:r>
            <a:r>
              <a:rPr lang="fr-FR" sz="2700" dirty="0" smtClean="0"/>
              <a:t>.</a:t>
            </a:r>
            <a:endParaRPr lang="fr-FR" sz="2700" dirty="0"/>
          </a:p>
          <a:p>
            <a:r>
              <a:rPr lang="fr-FR" sz="2700" dirty="0"/>
              <a:t>Il est noté que la petite caisse doit faire face à des menues dépenses qui ne peuvent souffrir d’aucune attente et dont les montants ne peuvent pas dépasser 25 000 Frs CFA par pièce.</a:t>
            </a:r>
          </a:p>
          <a:p>
            <a:endParaRPr lang="fr-FR" sz="2700" dirty="0"/>
          </a:p>
        </p:txBody>
      </p:sp>
    </p:spTree>
    <p:extLst>
      <p:ext uri="{BB962C8B-B14F-4D97-AF65-F5344CB8AC3E}">
        <p14:creationId xmlns:p14="http://schemas.microsoft.com/office/powerpoint/2010/main" val="35503244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85529" y="0"/>
            <a:ext cx="11184835" cy="795130"/>
          </a:xfrm>
        </p:spPr>
        <p:txBody>
          <a:bodyPr>
            <a:noAutofit/>
          </a:bodyPr>
          <a:lstStyle/>
          <a:p>
            <a:r>
              <a:rPr lang="fr-FR" sz="4800" b="1" u="sng" dirty="0" smtClean="0"/>
              <a:t>LE CONTROLE (INTERNE ET EXTERNE)</a:t>
            </a:r>
            <a:endParaRPr lang="fr-FR" sz="4800" dirty="0"/>
          </a:p>
        </p:txBody>
      </p:sp>
      <p:sp>
        <p:nvSpPr>
          <p:cNvPr id="3" name="Espace réservé du contenu 2"/>
          <p:cNvSpPr>
            <a:spLocks noGrp="1"/>
          </p:cNvSpPr>
          <p:nvPr>
            <p:ph idx="1"/>
          </p:nvPr>
        </p:nvSpPr>
        <p:spPr>
          <a:xfrm>
            <a:off x="92764" y="867294"/>
            <a:ext cx="10734261" cy="5990706"/>
          </a:xfrm>
        </p:spPr>
        <p:txBody>
          <a:bodyPr>
            <a:normAutofit fontScale="92500" lnSpcReduction="10000"/>
          </a:bodyPr>
          <a:lstStyle/>
          <a:p>
            <a:pPr>
              <a:buNone/>
            </a:pPr>
            <a:r>
              <a:rPr lang="fr-FR" b="1" dirty="0"/>
              <a:t>LES RAPPROCHEMENTS BANCAIRES</a:t>
            </a:r>
            <a:endParaRPr lang="fr-FR" dirty="0"/>
          </a:p>
          <a:p>
            <a:pPr>
              <a:buNone/>
            </a:pPr>
            <a:r>
              <a:rPr lang="fr-FR" dirty="0"/>
              <a:t>A la fin de chaque mois il est nécessaire d'obtenir de la banque le relevé du mois afin de procéder à la réconciliation du compte entre le journal tenu par le comptable </a:t>
            </a:r>
            <a:r>
              <a:rPr lang="fr-FR" dirty="0" smtClean="0"/>
              <a:t>(trésorier</a:t>
            </a:r>
            <a:r>
              <a:rPr lang="fr-FR" dirty="0"/>
              <a:t>) et le relevé de banque. Il arrive généralement que le solde banque du journal ne coïncide pas avec le solde du relevé bancaire</a:t>
            </a:r>
            <a:r>
              <a:rPr lang="fr-FR" dirty="0" smtClean="0"/>
              <a:t>.</a:t>
            </a:r>
            <a:r>
              <a:rPr lang="fr-FR" dirty="0"/>
              <a:t> </a:t>
            </a:r>
          </a:p>
          <a:p>
            <a:pPr>
              <a:buNone/>
            </a:pPr>
            <a:r>
              <a:rPr lang="fr-FR" dirty="0"/>
              <a:t>Cette différence de solde entre la banque et la comptabilité peut être due aux causes suivantes </a:t>
            </a:r>
            <a:r>
              <a:rPr lang="fr-FR" dirty="0" smtClean="0"/>
              <a:t>:</a:t>
            </a:r>
            <a:endParaRPr lang="fr-FR" dirty="0"/>
          </a:p>
          <a:p>
            <a:pPr lvl="0">
              <a:buNone/>
            </a:pPr>
            <a:r>
              <a:rPr lang="fr-FR" dirty="0"/>
              <a:t>les chèques émis par le CGE et non présentés à la banque par les bénéficiaires ;</a:t>
            </a:r>
          </a:p>
          <a:p>
            <a:pPr lvl="0">
              <a:buNone/>
            </a:pPr>
            <a:r>
              <a:rPr lang="fr-FR" dirty="0"/>
              <a:t>les agios et commissions bancaires (avis de débit non reçu) des versements ou remises faits par le CGE et non pris en compte sur le relevé bancaire (opération fin de mois) ;</a:t>
            </a:r>
          </a:p>
          <a:p>
            <a:pPr lvl="0">
              <a:buNone/>
            </a:pPr>
            <a:r>
              <a:rPr lang="fr-FR" dirty="0"/>
              <a:t>des virements de fonds effectués par les bailleurs fonds non pris en compte dans le journal (avis de crédit non reçus) ;</a:t>
            </a:r>
          </a:p>
          <a:p>
            <a:pPr lvl="0">
              <a:buNone/>
            </a:pPr>
            <a:r>
              <a:rPr lang="fr-FR" dirty="0"/>
              <a:t>les intérêts versés par la banque non comptabilités dans le journal.</a:t>
            </a:r>
          </a:p>
          <a:p>
            <a:endParaRPr lang="fr-FR" dirty="0"/>
          </a:p>
        </p:txBody>
      </p:sp>
    </p:spTree>
    <p:extLst>
      <p:ext uri="{BB962C8B-B14F-4D97-AF65-F5344CB8AC3E}">
        <p14:creationId xmlns:p14="http://schemas.microsoft.com/office/powerpoint/2010/main" val="15343135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78296" y="320040"/>
            <a:ext cx="10721008" cy="1143000"/>
          </a:xfrm>
        </p:spPr>
        <p:txBody>
          <a:bodyPr>
            <a:noAutofit/>
          </a:bodyPr>
          <a:lstStyle/>
          <a:p>
            <a:r>
              <a:rPr lang="fr-FR" sz="4800" b="1" dirty="0" smtClean="0"/>
              <a:t/>
            </a:r>
            <a:br>
              <a:rPr lang="fr-FR" sz="4800" b="1" dirty="0" smtClean="0"/>
            </a:br>
            <a:r>
              <a:rPr lang="fr-FR" sz="4800" b="1" u="sng" dirty="0" smtClean="0"/>
              <a:t>LE CONTROLE (INTERNE ET EXTERNE)</a:t>
            </a:r>
            <a:endParaRPr lang="fr-FR" sz="4800" dirty="0"/>
          </a:p>
        </p:txBody>
      </p:sp>
      <p:sp>
        <p:nvSpPr>
          <p:cNvPr id="3" name="Espace réservé du contenu 2"/>
          <p:cNvSpPr>
            <a:spLocks noGrp="1"/>
          </p:cNvSpPr>
          <p:nvPr>
            <p:ph idx="1"/>
          </p:nvPr>
        </p:nvSpPr>
        <p:spPr>
          <a:xfrm>
            <a:off x="265043" y="1635920"/>
            <a:ext cx="10654748" cy="4846320"/>
          </a:xfrm>
        </p:spPr>
        <p:txBody>
          <a:bodyPr>
            <a:noAutofit/>
          </a:bodyPr>
          <a:lstStyle/>
          <a:p>
            <a:pPr>
              <a:buNone/>
            </a:pPr>
            <a:r>
              <a:rPr lang="fr-FR" sz="4400" b="1" dirty="0" smtClean="0"/>
              <a:t>Le contrôle externe</a:t>
            </a:r>
            <a:r>
              <a:rPr lang="fr-FR" sz="4400" dirty="0" smtClean="0"/>
              <a:t> </a:t>
            </a:r>
          </a:p>
          <a:p>
            <a:pPr marL="0" indent="0">
              <a:buNone/>
            </a:pPr>
            <a:r>
              <a:rPr lang="fr-FR" sz="4400" b="1" dirty="0" smtClean="0"/>
              <a:t>Le contrôle externe</a:t>
            </a:r>
            <a:r>
              <a:rPr lang="fr-FR" sz="4400" dirty="0" smtClean="0"/>
              <a:t> est exercé par la tutelle (IEF, IA, DAGE, IAAF) et les organes nationaux spécialisés de contrôle d’Etat (IGE, Cour des Comptes…) car les fonds gérés par les CGE</a:t>
            </a:r>
            <a:r>
              <a:rPr lang="fr-FR" sz="4400" dirty="0" smtClean="0">
                <a:solidFill>
                  <a:srgbClr val="FF0000"/>
                </a:solidFill>
              </a:rPr>
              <a:t> </a:t>
            </a:r>
            <a:r>
              <a:rPr lang="fr-FR" sz="4400" dirty="0" smtClean="0"/>
              <a:t>sont des fonds publics.</a:t>
            </a:r>
          </a:p>
          <a:p>
            <a:endParaRPr lang="fr-FR" sz="4400" dirty="0" smtClean="0"/>
          </a:p>
          <a:p>
            <a:endParaRPr lang="fr-FR" sz="4400" dirty="0"/>
          </a:p>
        </p:txBody>
      </p:sp>
    </p:spTree>
    <p:extLst>
      <p:ext uri="{BB962C8B-B14F-4D97-AF65-F5344CB8AC3E}">
        <p14:creationId xmlns:p14="http://schemas.microsoft.com/office/powerpoint/2010/main" val="23589118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p:txBody>
          <a:bodyPr>
            <a:normAutofit/>
          </a:bodyPr>
          <a:lstStyle/>
          <a:p>
            <a:r>
              <a:rPr lang="fr-FR" sz="6000" b="1" dirty="0" smtClean="0"/>
              <a:t> </a:t>
            </a:r>
            <a:r>
              <a:rPr lang="fr-FR" sz="6000" b="1" u="sng" dirty="0" smtClean="0"/>
              <a:t>LE RAPPORTAGE</a:t>
            </a:r>
            <a:endParaRPr lang="fr-FR" sz="6000" dirty="0"/>
          </a:p>
        </p:txBody>
      </p:sp>
      <p:sp>
        <p:nvSpPr>
          <p:cNvPr id="3" name="Espace réservé du contenu 2"/>
          <p:cNvSpPr>
            <a:spLocks noGrp="1"/>
          </p:cNvSpPr>
          <p:nvPr>
            <p:ph idx="1"/>
          </p:nvPr>
        </p:nvSpPr>
        <p:spPr/>
        <p:txBody>
          <a:bodyPr>
            <a:normAutofit/>
          </a:bodyPr>
          <a:lstStyle/>
          <a:p>
            <a:r>
              <a:rPr lang="fr-FR" sz="6000" b="1" u="sng" dirty="0" smtClean="0"/>
              <a:t>AU NIVEAU DU CGE</a:t>
            </a:r>
            <a:endParaRPr lang="fr-FR" sz="6000" b="1" dirty="0" smtClean="0"/>
          </a:p>
          <a:p>
            <a:r>
              <a:rPr lang="fr-FR" sz="6000" b="1" u="sng" dirty="0" smtClean="0"/>
              <a:t>AU NIVEAU DE L’IEF</a:t>
            </a:r>
            <a:endParaRPr lang="fr-FR" sz="6000" b="1" dirty="0" smtClean="0"/>
          </a:p>
          <a:p>
            <a:r>
              <a:rPr lang="fr-FR" sz="6000" b="1" u="sng" dirty="0" smtClean="0"/>
              <a:t>AU NIVEAU DE L’IA</a:t>
            </a:r>
            <a:endParaRPr lang="fr-FR" sz="6000" b="1" dirty="0" smtClean="0"/>
          </a:p>
          <a:p>
            <a:endParaRPr lang="fr-FR" sz="6000" dirty="0" smtClean="0"/>
          </a:p>
          <a:p>
            <a:endParaRPr lang="fr-FR" sz="6000" dirty="0"/>
          </a:p>
        </p:txBody>
      </p:sp>
    </p:spTree>
    <p:extLst>
      <p:ext uri="{BB962C8B-B14F-4D97-AF65-F5344CB8AC3E}">
        <p14:creationId xmlns:p14="http://schemas.microsoft.com/office/powerpoint/2010/main" val="400764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5530" y="94753"/>
            <a:ext cx="9652000" cy="740134"/>
          </a:xfrm>
        </p:spPr>
        <p:txBody>
          <a:bodyPr>
            <a:noAutofit/>
          </a:bodyPr>
          <a:lstStyle/>
          <a:p>
            <a:r>
              <a:rPr lang="fr-FR" sz="5400" b="1" dirty="0" smtClean="0"/>
              <a:t> </a:t>
            </a:r>
            <a:r>
              <a:rPr lang="fr-FR" sz="5400" b="1" u="sng" dirty="0" smtClean="0"/>
              <a:t>LE RAPPORTAGE</a:t>
            </a:r>
            <a:endParaRPr lang="fr-FR" sz="5400" dirty="0"/>
          </a:p>
        </p:txBody>
      </p:sp>
      <p:sp>
        <p:nvSpPr>
          <p:cNvPr id="3" name="Espace réservé du contenu 2"/>
          <p:cNvSpPr>
            <a:spLocks noGrp="1"/>
          </p:cNvSpPr>
          <p:nvPr>
            <p:ph idx="1"/>
          </p:nvPr>
        </p:nvSpPr>
        <p:spPr>
          <a:xfrm>
            <a:off x="106017" y="880546"/>
            <a:ext cx="10760766" cy="5977453"/>
          </a:xfrm>
        </p:spPr>
        <p:txBody>
          <a:bodyPr>
            <a:noAutofit/>
          </a:bodyPr>
          <a:lstStyle/>
          <a:p>
            <a:r>
              <a:rPr lang="fr-FR" sz="2200" b="1" dirty="0" smtClean="0"/>
              <a:t>1 </a:t>
            </a:r>
            <a:r>
              <a:rPr lang="fr-FR" sz="2200" b="1" u="sng" dirty="0"/>
              <a:t>AU NIVEAU DU CGE</a:t>
            </a:r>
            <a:endParaRPr lang="fr-FR" sz="2200" b="1" dirty="0"/>
          </a:p>
          <a:p>
            <a:r>
              <a:rPr lang="fr-FR" sz="2200" dirty="0"/>
              <a:t>Le bureau du CGE élabore trimestriellement, au plus tard le 10 du mois suivant le trimestre écoulé, un rapport d’exécution comprenant une partie technique et une partie financière.</a:t>
            </a:r>
          </a:p>
          <a:p>
            <a:r>
              <a:rPr lang="fr-FR" sz="2200" dirty="0"/>
              <a:t>La partie technique est élaborée par le Secrétaire et la partie financière par le Trésorier.</a:t>
            </a:r>
          </a:p>
          <a:p>
            <a:r>
              <a:rPr lang="fr-FR" sz="2200" dirty="0"/>
              <a:t>Le rapport est visé par les commissaires aux comptes et signé par le Secrétaire.</a:t>
            </a:r>
          </a:p>
          <a:p>
            <a:r>
              <a:rPr lang="fr-FR" sz="2200" dirty="0"/>
              <a:t>Après présentation au CGE et validation, le rapport est transmis à l’IEF par le Secrétaire (par cahier de transmission).</a:t>
            </a:r>
          </a:p>
          <a:p>
            <a:r>
              <a:rPr lang="fr-FR" sz="2200" u="sng" dirty="0"/>
              <a:t>Le rapport comporte</a:t>
            </a:r>
            <a:r>
              <a:rPr lang="fr-FR" sz="2200" dirty="0"/>
              <a:t> :</a:t>
            </a:r>
          </a:p>
          <a:p>
            <a:pPr lvl="0"/>
            <a:r>
              <a:rPr lang="fr-FR" sz="2200" dirty="0"/>
              <a:t>une fiche synoptique</a:t>
            </a:r>
          </a:p>
          <a:p>
            <a:pPr lvl="0"/>
            <a:r>
              <a:rPr lang="fr-FR" sz="2200" dirty="0"/>
              <a:t>un état d’exécution des activités</a:t>
            </a:r>
          </a:p>
          <a:p>
            <a:pPr lvl="0"/>
            <a:r>
              <a:rPr lang="fr-FR" sz="2200" dirty="0"/>
              <a:t>une situation globale de trésorerie</a:t>
            </a:r>
          </a:p>
          <a:p>
            <a:pPr lvl="0"/>
            <a:r>
              <a:rPr lang="fr-FR" sz="2200" dirty="0"/>
              <a:t>un état d’exécution budgétaire</a:t>
            </a:r>
          </a:p>
          <a:p>
            <a:r>
              <a:rPr lang="fr-FR" sz="2200" dirty="0"/>
              <a:t>Une copie du relevé du compte du CGE</a:t>
            </a:r>
            <a:r>
              <a:rPr lang="fr-FR" sz="2200" dirty="0">
                <a:solidFill>
                  <a:srgbClr val="FF0000"/>
                </a:solidFill>
              </a:rPr>
              <a:t> </a:t>
            </a:r>
            <a:r>
              <a:rPr lang="fr-FR" sz="2200" dirty="0" smtClean="0"/>
              <a:t>est </a:t>
            </a:r>
            <a:r>
              <a:rPr lang="fr-FR" sz="2200" dirty="0"/>
              <a:t>annexée au rapport.</a:t>
            </a:r>
          </a:p>
          <a:p>
            <a:endParaRPr lang="fr-FR" sz="2200" dirty="0"/>
          </a:p>
        </p:txBody>
      </p:sp>
    </p:spTree>
    <p:extLst>
      <p:ext uri="{BB962C8B-B14F-4D97-AF65-F5344CB8AC3E}">
        <p14:creationId xmlns:p14="http://schemas.microsoft.com/office/powerpoint/2010/main" val="40082921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98783" y="0"/>
            <a:ext cx="9652000" cy="834887"/>
          </a:xfrm>
        </p:spPr>
        <p:txBody>
          <a:bodyPr>
            <a:noAutofit/>
          </a:bodyPr>
          <a:lstStyle/>
          <a:p>
            <a:r>
              <a:rPr lang="fr-FR" sz="4800" b="1" dirty="0" smtClean="0"/>
              <a:t> </a:t>
            </a:r>
            <a:r>
              <a:rPr lang="fr-FR" sz="4800" b="1" u="sng" dirty="0" smtClean="0"/>
              <a:t>LE RAPPORTAGE</a:t>
            </a:r>
            <a:endParaRPr lang="fr-FR" sz="4800" dirty="0"/>
          </a:p>
        </p:txBody>
      </p:sp>
      <p:sp>
        <p:nvSpPr>
          <p:cNvPr id="3" name="Espace réservé du contenu 2"/>
          <p:cNvSpPr>
            <a:spLocks noGrp="1"/>
          </p:cNvSpPr>
          <p:nvPr>
            <p:ph idx="1"/>
          </p:nvPr>
        </p:nvSpPr>
        <p:spPr>
          <a:xfrm>
            <a:off x="0" y="907050"/>
            <a:ext cx="10946296" cy="5798550"/>
          </a:xfrm>
        </p:spPr>
        <p:txBody>
          <a:bodyPr>
            <a:noAutofit/>
          </a:bodyPr>
          <a:lstStyle/>
          <a:p>
            <a:r>
              <a:rPr lang="fr-FR" sz="3000" b="1" u="sng" dirty="0"/>
              <a:t>AU NIVEAU DE </a:t>
            </a:r>
            <a:r>
              <a:rPr lang="fr-FR" sz="3000" b="1" u="sng" dirty="0" smtClean="0"/>
              <a:t>L’IEF</a:t>
            </a:r>
            <a:endParaRPr lang="fr-FR" sz="3000" b="1" dirty="0"/>
          </a:p>
          <a:p>
            <a:r>
              <a:rPr lang="fr-FR" sz="3000" dirty="0"/>
              <a:t>Trimestriellement, le Gestionnaire de l’IEF transmet à l’IA un rapport consolidé de l’exécution financière des CAQ de son département (pour chaque école le montant approuvé, le montant décaissé, le solde à décaisser et la mention relative à la certification par l’IEF des réalisations physiques).</a:t>
            </a:r>
            <a:endParaRPr lang="fr-FR" sz="3000" b="1" dirty="0"/>
          </a:p>
          <a:p>
            <a:pPr marL="0" indent="0">
              <a:buNone/>
            </a:pPr>
            <a:r>
              <a:rPr lang="fr-FR" sz="3000" dirty="0"/>
              <a:t>Ce rapport comprend :</a:t>
            </a:r>
            <a:endParaRPr lang="fr-FR" sz="3000" b="1" dirty="0"/>
          </a:p>
          <a:p>
            <a:pPr lvl="0"/>
            <a:r>
              <a:rPr lang="fr-FR" sz="3000" dirty="0"/>
              <a:t>L’exécution financière du trimestre écoulé ;</a:t>
            </a:r>
            <a:endParaRPr lang="fr-FR" sz="3000" b="1" dirty="0"/>
          </a:p>
          <a:p>
            <a:pPr lvl="0"/>
            <a:r>
              <a:rPr lang="fr-FR" sz="3000" dirty="0"/>
              <a:t>L’exécution financière du trimestre concerné ;</a:t>
            </a:r>
          </a:p>
          <a:p>
            <a:pPr lvl="0"/>
            <a:r>
              <a:rPr lang="fr-FR" sz="3000" dirty="0"/>
              <a:t>l’état de rapprochement bancaire des comptes des CGE,</a:t>
            </a:r>
          </a:p>
          <a:p>
            <a:pPr lvl="0"/>
            <a:r>
              <a:rPr lang="fr-FR" sz="3000" dirty="0"/>
              <a:t>les relevés bancaires des comptes des CGE.</a:t>
            </a:r>
          </a:p>
          <a:p>
            <a:endParaRPr lang="fr-FR" sz="3000" dirty="0"/>
          </a:p>
          <a:p>
            <a:endParaRPr lang="fr-FR" sz="3000" dirty="0"/>
          </a:p>
        </p:txBody>
      </p:sp>
    </p:spTree>
    <p:extLst>
      <p:ext uri="{BB962C8B-B14F-4D97-AF65-F5344CB8AC3E}">
        <p14:creationId xmlns:p14="http://schemas.microsoft.com/office/powerpoint/2010/main" val="37584429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25287" y="161014"/>
            <a:ext cx="9652000" cy="1143000"/>
          </a:xfrm>
        </p:spPr>
        <p:txBody>
          <a:bodyPr>
            <a:normAutofit/>
          </a:bodyPr>
          <a:lstStyle/>
          <a:p>
            <a:r>
              <a:rPr lang="fr-FR" sz="6000" b="1" dirty="0" smtClean="0"/>
              <a:t> </a:t>
            </a:r>
            <a:r>
              <a:rPr lang="fr-FR" sz="6000" b="1" u="sng" dirty="0" smtClean="0"/>
              <a:t>LE RAPPORTAGE</a:t>
            </a:r>
            <a:endParaRPr lang="fr-FR" sz="6000" dirty="0"/>
          </a:p>
        </p:txBody>
      </p:sp>
      <p:sp>
        <p:nvSpPr>
          <p:cNvPr id="3" name="Espace réservé du contenu 2"/>
          <p:cNvSpPr>
            <a:spLocks noGrp="1"/>
          </p:cNvSpPr>
          <p:nvPr>
            <p:ph idx="1"/>
          </p:nvPr>
        </p:nvSpPr>
        <p:spPr/>
        <p:txBody>
          <a:bodyPr>
            <a:noAutofit/>
          </a:bodyPr>
          <a:lstStyle/>
          <a:p>
            <a:pPr marL="0" indent="0" algn="ctr">
              <a:buNone/>
            </a:pPr>
            <a:r>
              <a:rPr lang="fr-FR" sz="5400" dirty="0" smtClean="0"/>
              <a:t>Au niveau de l’IA  </a:t>
            </a:r>
          </a:p>
          <a:p>
            <a:pPr marL="0" indent="0">
              <a:buNone/>
            </a:pPr>
            <a:r>
              <a:rPr lang="fr-FR" sz="5400" dirty="0" smtClean="0"/>
              <a:t>Trimestriellement, le COFC de l’IA transmet à la DAGE un rapport  consolidé de l’exécution financière des CAQ de son académie.    </a:t>
            </a:r>
          </a:p>
          <a:p>
            <a:endParaRPr lang="fr-FR" sz="5400" dirty="0" smtClean="0"/>
          </a:p>
          <a:p>
            <a:endParaRPr lang="fr-FR" sz="5400" dirty="0"/>
          </a:p>
        </p:txBody>
      </p:sp>
    </p:spTree>
    <p:extLst>
      <p:ext uri="{BB962C8B-B14F-4D97-AF65-F5344CB8AC3E}">
        <p14:creationId xmlns:p14="http://schemas.microsoft.com/office/powerpoint/2010/main" val="6278138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238</TotalTime>
  <Words>1553</Words>
  <Application>Microsoft Office PowerPoint</Application>
  <PresentationFormat>Personnalisé</PresentationFormat>
  <Paragraphs>256</Paragraphs>
  <Slides>38</Slides>
  <Notes>0</Notes>
  <HiddenSlides>0</HiddenSlides>
  <MMClips>0</MMClips>
  <ScaleCrop>false</ScaleCrop>
  <HeadingPairs>
    <vt:vector size="4" baseType="variant">
      <vt:variant>
        <vt:lpstr>Thème</vt:lpstr>
      </vt:variant>
      <vt:variant>
        <vt:i4>1</vt:i4>
      </vt:variant>
      <vt:variant>
        <vt:lpstr>Titres des diapositives</vt:lpstr>
      </vt:variant>
      <vt:variant>
        <vt:i4>38</vt:i4>
      </vt:variant>
    </vt:vector>
  </HeadingPairs>
  <TitlesOfParts>
    <vt:vector size="39" baseType="lpstr">
      <vt:lpstr>Opulent</vt:lpstr>
      <vt:lpstr>GESTION MATERIELLE ET FINANCIERE DES FONDS ALLOUES AUX ECOLES ELEMENTAIRES</vt:lpstr>
      <vt:lpstr>OBJECTIFS DU MODULE</vt:lpstr>
      <vt:lpstr>CONTENU DU MODULE</vt:lpstr>
      <vt:lpstr>PASSATION DES MARCHES</vt:lpstr>
      <vt:lpstr>PASSATION DES MARCHES</vt:lpstr>
      <vt:lpstr>PASSATION DES MARCHES</vt:lpstr>
      <vt:lpstr>PASSATION DES MARCHES</vt:lpstr>
      <vt:lpstr>PASSATION DES MARCHES</vt:lpstr>
      <vt:lpstr>PASSATION DES MARCHES</vt:lpstr>
      <vt:lpstr>PASSATION DES MARCHES</vt:lpstr>
      <vt:lpstr>PASSATION DES MARCHES</vt:lpstr>
      <vt:lpstr>PASSATION DES MARCHES</vt:lpstr>
      <vt:lpstr>PASSATION DES MARCHES</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  LE CONTROLE (INTERNE ET EXTERNE)</vt:lpstr>
      <vt:lpstr>  LE CONTROLE (INTERNE ET EXTERNE)</vt:lpstr>
      <vt:lpstr>  LE CONTROLE (INTERNE ET EXTERNE)</vt:lpstr>
      <vt:lpstr>  LE CONTROLE (INTERNE ET EXTERNE)</vt:lpstr>
      <vt:lpstr>  LE CONTROLE (INTERNE ET EXTERNE)</vt:lpstr>
      <vt:lpstr>  LE CONTROLE (INTERNE ET EXTERNE)</vt:lpstr>
      <vt:lpstr>  LE CONTROLE (INTERNE ET EXTERNE)</vt:lpstr>
      <vt:lpstr>LE CONTROLE (INTERNE ET EXTERNE)</vt:lpstr>
      <vt:lpstr>LE CONTROLE (INTERNE ET EXTERNE)</vt:lpstr>
      <vt:lpstr>LE CONTROLE (INTERNE ET EXTERNE)</vt:lpstr>
      <vt:lpstr>LE CONTROLE (INTERNE ET EXTERNE)</vt:lpstr>
      <vt:lpstr> LE CONTROLE (INTERNE ET EXTERNE)</vt:lpstr>
      <vt:lpstr> LE RAPPORTAGE</vt:lpstr>
      <vt:lpstr> LE RAPPORTAGE</vt:lpstr>
      <vt:lpstr> LE RAPPORTAGE</vt:lpstr>
      <vt:lpstr> LE RAPPORTAGE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MATERIELLE ET FINANCIERE DES FONDS ALLOUES AUX ECOLES ELEMENTAIRES</dc:title>
  <dc:creator>IA KDG</dc:creator>
  <cp:lastModifiedBy>EliteBook</cp:lastModifiedBy>
  <cp:revision>37</cp:revision>
  <dcterms:created xsi:type="dcterms:W3CDTF">2015-01-29T11:45:48Z</dcterms:created>
  <dcterms:modified xsi:type="dcterms:W3CDTF">2015-04-16T16:43:58Z</dcterms:modified>
</cp:coreProperties>
</file>